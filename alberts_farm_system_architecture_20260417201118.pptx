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image" Target="../media/image-6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image" Target="../media/image-8-28.png"/><Relationship Id="rId29" Type="http://schemas.openxmlformats.org/officeDocument/2006/relationships/image" Target="../media/image-8-29.png"/><Relationship Id="rId30" Type="http://schemas.openxmlformats.org/officeDocument/2006/relationships/image" Target="../media/image-8-30.png"/><Relationship Id="rId31" Type="http://schemas.openxmlformats.org/officeDocument/2006/relationships/image" Target="../media/image-8-31.png"/><Relationship Id="rId32" Type="http://schemas.openxmlformats.org/officeDocument/2006/relationships/image" Target="../media/image-8-32.png"/><Relationship Id="rId33" Type="http://schemas.openxmlformats.org/officeDocument/2006/relationships/image" Target="../media/image-8-33.png"/><Relationship Id="rId34" Type="http://schemas.openxmlformats.org/officeDocument/2006/relationships/image" Target="../media/image-8-34.png"/><Relationship Id="rId35" Type="http://schemas.openxmlformats.org/officeDocument/2006/relationships/image" Target="../media/image-8-35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38505"/>
            <a:ext cx="875995" cy="6019495"/>
          </a:xfrm>
          <a:prstGeom prst="rect">
            <a:avLst/>
          </a:prstGeom>
          <a:solidFill>
            <a:srgbClr val="0F6C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58707" y="1143000"/>
            <a:ext cx="2971800" cy="2210105"/>
          </a:xfrm>
          <a:prstGeom prst="roundRect">
            <a:avLst>
              <a:gd name="adj" fmla="val 6420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68105" y="1380744"/>
            <a:ext cx="2533802" cy="1714500"/>
          </a:xfrm>
          <a:prstGeom prst="roundRect">
            <a:avLst>
              <a:gd name="adj" fmla="val 8296"/>
            </a:avLst>
          </a:prstGeom>
          <a:solidFill>
            <a:srgbClr val="F1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6646" y="1571854"/>
            <a:ext cx="133502" cy="133502"/>
          </a:xfrm>
          <a:prstGeom prst="ellipse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72854" y="1571854"/>
            <a:ext cx="133502" cy="133502"/>
          </a:xfrm>
          <a:prstGeom prst="ellipse">
            <a:avLst/>
          </a:prstGeom>
          <a:solidFill>
            <a:srgbClr val="9CC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58146" y="1571854"/>
            <a:ext cx="133502" cy="133502"/>
          </a:xfrm>
          <a:prstGeom prst="ellipse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86646" y="1857146"/>
            <a:ext cx="133502" cy="133502"/>
          </a:xfrm>
          <a:prstGeom prst="ellipse">
            <a:avLst/>
          </a:prstGeom>
          <a:solidFill>
            <a:srgbClr val="9CC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72854" y="1857146"/>
            <a:ext cx="133502" cy="133502"/>
          </a:xfrm>
          <a:prstGeom prst="ellipse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58146" y="1857146"/>
            <a:ext cx="133502" cy="133502"/>
          </a:xfrm>
          <a:prstGeom prst="ellipse">
            <a:avLst/>
          </a:prstGeom>
          <a:solidFill>
            <a:srgbClr val="9CC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86646" y="2143354"/>
            <a:ext cx="133502" cy="133502"/>
          </a:xfrm>
          <a:prstGeom prst="ellipse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72854" y="2143354"/>
            <a:ext cx="133502" cy="133502"/>
          </a:xfrm>
          <a:prstGeom prst="ellipse">
            <a:avLst/>
          </a:prstGeom>
          <a:solidFill>
            <a:srgbClr val="9CC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58146" y="2143354"/>
            <a:ext cx="133502" cy="133502"/>
          </a:xfrm>
          <a:prstGeom prst="ellipse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-406" r="-406" t="0" b="0"/>
          <a:stretch/>
        </p:blipFill>
        <p:spPr>
          <a:xfrm>
            <a:off x="1143000" y="2933395"/>
            <a:ext cx="6096305" cy="28346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1143000" y="3286354"/>
            <a:ext cx="7258507" cy="1971446"/>
          </a:xfrm>
          <a:prstGeom prst="roundRect">
            <a:avLst>
              <a:gd name="adj" fmla="val 8066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0" y="6191402"/>
            <a:ext cx="12191695" cy="666598"/>
          </a:xfrm>
          <a:prstGeom prst="rect">
            <a:avLst/>
          </a:prstGeom>
          <a:solidFill>
            <a:srgbClr val="0B2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572500" y="3476549"/>
            <a:ext cx="2971800" cy="1781251"/>
          </a:xfrm>
          <a:prstGeom prst="roundRect">
            <a:avLst>
              <a:gd name="adj" fmla="val 9883"/>
            </a:avLst>
          </a:prstGeom>
          <a:solidFill>
            <a:srgbClr val="F1F7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43000" y="209398"/>
            <a:ext cx="8763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Albert’s Farm · Agri OS 技术架构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495605"/>
            <a:ext cx="8763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" kern="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System Architecture Overview (IT Edition)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1666951"/>
            <a:ext cx="81921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Albert's Farm 系统架构介绍</a:t>
            </a:r>
            <a:endParaRPr lang="en-US" sz="39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" y="2428646"/>
            <a:ext cx="81921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Agri OS（农业操作系统）技术架构概览</a:t>
            </a:r>
            <a:endParaRPr lang="en-US" sz="16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rcRect l="-1004" r="-1004" t="0" b="0"/>
          <a:stretch/>
        </p:blipFill>
        <p:spPr>
          <a:xfrm>
            <a:off x="1429207" y="3607308"/>
            <a:ext cx="267005" cy="209398"/>
          </a:xfrm>
          <a:prstGeom prst="rect">
            <a:avLst/>
          </a:prstGeom>
        </p:spPr>
      </p:pic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rcRect l="-1528" r="-1528" t="0" b="0"/>
          <a:stretch/>
        </p:blipFill>
        <p:spPr>
          <a:xfrm>
            <a:off x="1429207" y="4045306"/>
            <a:ext cx="161849" cy="209398"/>
          </a:xfrm>
          <a:prstGeom prst="rect">
            <a:avLst/>
          </a:prstGeom>
        </p:spPr>
      </p:pic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rcRect l="-461" r="-461" t="0" b="0"/>
          <a:stretch/>
        </p:blipFill>
        <p:spPr>
          <a:xfrm>
            <a:off x="1429207" y="4484218"/>
            <a:ext cx="237744" cy="20939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752905" y="3504895"/>
            <a:ext cx="63825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适用场景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1752905" y="3847795"/>
            <a:ext cx="63825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团队讨论 / 方案评审 / 路线对齐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1752905" y="4217213"/>
            <a:ext cx="63825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呈现方式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1752905" y="4560113"/>
            <a:ext cx="63825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蓝色系 IT 架构风格：图示为主、文字为辅；强调关键链路与落地路径</a:t>
            </a:r>
            <a:endParaRPr lang="en-US" sz="12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1143000" y="6448349"/>
            <a:ext cx="133502" cy="152705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390802" y="6344107"/>
            <a:ext cx="4000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演示人：________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1390802" y="6572707"/>
            <a:ext cx="4000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C7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Presenter</a:t>
            </a:r>
            <a:endParaRPr lang="en-US" sz="9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5905195" y="6448349"/>
            <a:ext cx="133502" cy="152705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6152998" y="6344107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日期：________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6152998" y="6572707"/>
            <a:ext cx="285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C7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Date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9334195" y="6362395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IT系统版 · V1.0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9334195" y="6590995"/>
            <a:ext cx="2477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7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Architecture Deck</a:t>
            </a:r>
            <a:endParaRPr lang="en-US" sz="900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rcRect l="-621" r="-621" t="0" b="0"/>
          <a:stretch/>
        </p:blipFill>
        <p:spPr>
          <a:xfrm>
            <a:off x="8858707" y="3945636"/>
            <a:ext cx="409651" cy="323698"/>
          </a:xfrm>
          <a:prstGeom prst="rect">
            <a:avLst/>
          </a:prstGeom>
        </p:spPr>
      </p:pic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430207" y="3945636"/>
            <a:ext cx="323698" cy="323698"/>
          </a:xfrm>
          <a:prstGeom prst="rect">
            <a:avLst/>
          </a:prstGeom>
        </p:spPr>
      </p:pic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rcRect l="-525" r="-525" t="0" b="0"/>
          <a:stretch/>
        </p:blipFill>
        <p:spPr>
          <a:xfrm>
            <a:off x="10001707" y="3945636"/>
            <a:ext cx="286207" cy="323698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8858707" y="4334256"/>
            <a:ext cx="238201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从田间数据到经营闭环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主数据驱动 · 批次贯通 · 可追溯 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38505"/>
            <a:ext cx="875995" cy="6019495"/>
          </a:xfrm>
          <a:prstGeom prst="rect">
            <a:avLst/>
          </a:prstGeom>
          <a:solidFill>
            <a:srgbClr val="0F6C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524305"/>
            <a:ext cx="4972507" cy="3448202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8" b="-18"/>
          <a:stretch/>
        </p:blipFill>
        <p:spPr>
          <a:xfrm>
            <a:off x="1143000" y="1524305"/>
            <a:ext cx="4953305" cy="72420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76695" y="1524305"/>
            <a:ext cx="4972507" cy="1591056"/>
          </a:xfrm>
          <a:prstGeom prst="roundRect">
            <a:avLst>
              <a:gd name="adj" fmla="val 12389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76695" y="3286354"/>
            <a:ext cx="4972507" cy="1591056"/>
          </a:xfrm>
          <a:prstGeom prst="roundRect">
            <a:avLst>
              <a:gd name="adj" fmla="val 12389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76695" y="5048402"/>
            <a:ext cx="4972507" cy="1447495"/>
          </a:xfrm>
          <a:prstGeom prst="roundRect">
            <a:avLst>
              <a:gd name="adj" fmla="val 14962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43000" y="5143500"/>
            <a:ext cx="4953305" cy="1333195"/>
          </a:xfrm>
          <a:prstGeom prst="roundRect">
            <a:avLst>
              <a:gd name="adj" fmla="val 17637"/>
            </a:avLst>
          </a:prstGeom>
          <a:solidFill>
            <a:srgbClr val="0B2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43000" y="171907"/>
            <a:ext cx="9906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系统总体定位与价值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504749"/>
            <a:ext cx="9906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" kern="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Positioning &amp; Value Proposition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1009498"/>
            <a:ext cx="9906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讨论重点：明确“我们在做什么、为什么做、先做什么”，并对齐主数据与闭环目标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410005" y="1800454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733702" y="1676095"/>
            <a:ext cx="40965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定位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733702" y="1981505"/>
            <a:ext cx="40965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不是记账工具，也不是传统ERP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410005" y="2400300"/>
            <a:ext cx="442021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围绕农场经营全流程的</a:t>
            </a:r>
            <a:pPr algn="l" indent="0" marL="0">
              <a:buNone/>
            </a:pP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Agri OS（农业操作系统）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1410005" y="3152851"/>
            <a:ext cx="44202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以</a:t>
            </a:r>
            <a:pPr algn="l" indent="0" marL="0">
              <a:buNone/>
            </a:pPr>
            <a:r>
              <a:rPr lang="en-US" sz="11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主数据</a:t>
            </a:r>
            <a:pPr algn="l" indent="0" marL="0">
              <a:buNone/>
            </a:pPr>
            <a:r>
              <a:rPr lang="en-US" sz="11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为骨架、以</a:t>
            </a:r>
            <a:pPr algn="l" indent="0" marL="0">
              <a:buNone/>
            </a:pPr>
            <a:r>
              <a:rPr lang="en-US" sz="11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批次</a:t>
            </a:r>
            <a:pPr algn="l" indent="0" marL="0">
              <a:buNone/>
            </a:pPr>
            <a:r>
              <a:rPr lang="en-US" sz="11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为连接主键，贯通生产、质量、库存、订单与人员执行，形成从田间到客户的经营闭环。 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410005" y="3705149"/>
            <a:ext cx="4420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边界策略：一线作业与闭环优先；IoT/智能化作为后续阶段能力叠加。</a:t>
            </a:r>
            <a:endParaRPr lang="en-US" sz="9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-80" r="-80" t="0" b="0"/>
          <a:stretch/>
        </p:blipFill>
        <p:spPr>
          <a:xfrm>
            <a:off x="6724498" y="1857146"/>
            <a:ext cx="286207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067398" y="1695298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主数据链条（系统主线）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7067398" y="2018995"/>
            <a:ext cx="40965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地块 → 作物 → 农事 → 批次 → 库存 → 订单 → 质量 → 人员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7067398" y="2350008"/>
            <a:ext cx="40965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设计要点：每一步都有可落地的“记录对象”和“责任人”，保证可追溯与可核算。</a:t>
            </a:r>
            <a:endParaRPr lang="en-US" sz="9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-57" r="-57" t="0" b="0"/>
          <a:stretch/>
        </p:blipFill>
        <p:spPr>
          <a:xfrm>
            <a:off x="6724498" y="3619195"/>
            <a:ext cx="200254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067398" y="3457346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目标（从记录到经营）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7067398" y="3781044"/>
            <a:ext cx="40965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打通“生产 → 销售”闭环；标准化一线执行；沉淀可复用的数据资产与流程资产。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7067398" y="4347972"/>
            <a:ext cx="40965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交付标准：形成可运行的最小闭环（批次贯通、库存可用、订单可履约）。</a:t>
            </a:r>
            <a:endParaRPr lang="en-US" sz="9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724498" y="5381244"/>
            <a:ext cx="228600" cy="2286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067398" y="5219395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核心价值（管理语言）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7067398" y="5544007"/>
            <a:ext cx="40965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可追溯</a:t>
            </a:r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可度量</a:t>
            </a:r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可优化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7067398" y="5906110"/>
            <a:ext cx="40965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以数据驱动复盘：产量、损耗、周转、履约、质量与人效。</a:t>
            </a:r>
            <a:endParaRPr lang="en-US" sz="9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410005" y="5443423"/>
            <a:ext cx="190195" cy="190195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733702" y="5315407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团队讨论建议（本页结论要对齐）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1733702" y="5639105"/>
            <a:ext cx="40965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1) Phase 1闭环范围：哪些对象必须先标准化？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2) “Batch 批次”从哪里生成、谁来维护？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3) 现有流程里最大的断点/手工表在哪？ 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38505"/>
            <a:ext cx="875995" cy="6019495"/>
          </a:xfrm>
          <a:prstGeom prst="rect">
            <a:avLst/>
          </a:prstGeom>
          <a:solidFill>
            <a:srgbClr val="0F6C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429207"/>
            <a:ext cx="7830007" cy="4876495"/>
          </a:xfrm>
          <a:prstGeom prst="roundRect">
            <a:avLst>
              <a:gd name="adj" fmla="val 1318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29207" y="1619402"/>
            <a:ext cx="7258507" cy="838505"/>
          </a:xfrm>
          <a:prstGeom prst="roundRect">
            <a:avLst>
              <a:gd name="adj" fmla="val 34698"/>
            </a:avLst>
          </a:prstGeom>
          <a:solidFill>
            <a:srgbClr val="EEF6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5048402" y="2476195"/>
            <a:ext cx="171907" cy="171907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266" r="-266" t="0" b="0"/>
          <a:stretch/>
        </p:blipFill>
        <p:spPr>
          <a:xfrm>
            <a:off x="5124298" y="2409444"/>
            <a:ext cx="19202" cy="17190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429207" y="2619756"/>
            <a:ext cx="7258507" cy="1162202"/>
          </a:xfrm>
          <a:prstGeom prst="roundRect">
            <a:avLst>
              <a:gd name="adj" fmla="val 18057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9" b="-19"/>
          <a:stretch/>
        </p:blipFill>
        <p:spPr>
          <a:xfrm>
            <a:off x="1429207" y="2619756"/>
            <a:ext cx="7239305" cy="36210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 rot="2700000">
            <a:off x="5048402" y="3781044"/>
            <a:ext cx="171907" cy="171907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-266" r="-266" t="0" b="0"/>
          <a:stretch/>
        </p:blipFill>
        <p:spPr>
          <a:xfrm>
            <a:off x="5124298" y="3724351"/>
            <a:ext cx="19202" cy="171907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429207" y="3924605"/>
            <a:ext cx="7258507" cy="1162202"/>
          </a:xfrm>
          <a:prstGeom prst="roundRect">
            <a:avLst>
              <a:gd name="adj" fmla="val 18057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9" b="-19"/>
          <a:stretch/>
        </p:blipFill>
        <p:spPr>
          <a:xfrm>
            <a:off x="1429207" y="3924605"/>
            <a:ext cx="7239305" cy="36210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 rot="2700000">
            <a:off x="5048402" y="5076749"/>
            <a:ext cx="171907" cy="171907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-266" r="-266" t="0" b="0"/>
          <a:stretch/>
        </p:blipFill>
        <p:spPr>
          <a:xfrm>
            <a:off x="5124298" y="5020056"/>
            <a:ext cx="19202" cy="171907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1429207" y="5219395"/>
            <a:ext cx="7258507" cy="895198"/>
          </a:xfrm>
          <a:prstGeom prst="roundRect">
            <a:avLst>
              <a:gd name="adj" fmla="val 30426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1143000" y="6381598"/>
            <a:ext cx="7810805" cy="286207"/>
          </a:xfrm>
          <a:prstGeom prst="roundRect">
            <a:avLst>
              <a:gd name="adj" fmla="val 212993"/>
            </a:avLst>
          </a:prstGeom>
          <a:solidFill>
            <a:srgbClr val="0B2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9239098" y="1429207"/>
            <a:ext cx="2495398" cy="5067605"/>
          </a:xfrm>
          <a:prstGeom prst="roundRect">
            <a:avLst>
              <a:gd name="adj" fmla="val 5035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9" b="-19"/>
          <a:stretch/>
        </p:blipFill>
        <p:spPr>
          <a:xfrm>
            <a:off x="9239098" y="1429207"/>
            <a:ext cx="2476195" cy="59070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430207" y="2171700"/>
            <a:ext cx="2115007" cy="1162202"/>
          </a:xfrm>
          <a:prstGeom prst="roundRect">
            <a:avLst>
              <a:gd name="adj" fmla="val 18057"/>
            </a:avLst>
          </a:prstGeom>
          <a:solidFill>
            <a:srgbClr val="F6F9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9430207" y="3467405"/>
            <a:ext cx="2115007" cy="1162202"/>
          </a:xfrm>
          <a:prstGeom prst="roundRect">
            <a:avLst>
              <a:gd name="adj" fmla="val 18057"/>
            </a:avLst>
          </a:prstGeom>
          <a:solidFill>
            <a:srgbClr val="F6F9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9430207" y="4762195"/>
            <a:ext cx="2095805" cy="1524305"/>
          </a:xfrm>
          <a:prstGeom prst="roundRect">
            <a:avLst>
              <a:gd name="adj" fmla="val 10498"/>
            </a:avLst>
          </a:prstGeom>
          <a:solidFill>
            <a:srgbClr val="0B2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1143000" y="171907"/>
            <a:ext cx="9906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系统四层架构总览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1143000" y="504749"/>
            <a:ext cx="9906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" kern="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Layered Architecture Overview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1143000" y="1009498"/>
            <a:ext cx="9906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讨论重点：用“分层 + 引擎 + 主数据”解释系统如何从一线采集走向经营闭环（可扩展、可演进）</a:t>
            </a:r>
            <a:endParaRPr lang="en-US" sz="10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rcRect l="-1528" r="-1528" t="0" b="0"/>
          <a:stretch/>
        </p:blipFill>
        <p:spPr>
          <a:xfrm>
            <a:off x="1619402" y="1892808"/>
            <a:ext cx="161849" cy="20939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962302" y="1723644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用户与终端层</a:t>
            </a:r>
            <a:endParaRPr lang="en-US" sz="1200" dirty="0"/>
          </a:p>
        </p:txBody>
      </p:sp>
      <p:sp>
        <p:nvSpPr>
          <p:cNvPr id="31" name="Text 22"/>
          <p:cNvSpPr txBox="1"/>
          <p:nvPr/>
        </p:nvSpPr>
        <p:spPr>
          <a:xfrm>
            <a:off x="1962302" y="2009851"/>
            <a:ext cx="285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采集、操作、查询入口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4953305" y="1723644"/>
            <a:ext cx="35250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工人手机端 · 主管/经理后台 · 包装/仓库端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销售/客服端 · 客户/渠道查询端（可选） </a:t>
            </a:r>
            <a:endParaRPr lang="en-US" sz="10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rcRect l="-1282" r="-1282" t="0" b="0"/>
          <a:stretch/>
        </p:blipFill>
        <p:spPr>
          <a:xfrm>
            <a:off x="1619402" y="2757830"/>
            <a:ext cx="219456" cy="190195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962302" y="2676449"/>
            <a:ext cx="4000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业务应用层（6大系统）</a:t>
            </a:r>
            <a:endParaRPr lang="en-US" sz="1100" dirty="0"/>
          </a:p>
        </p:txBody>
      </p:sp>
      <p:sp>
        <p:nvSpPr>
          <p:cNvPr id="35" name="Text 25"/>
          <p:cNvSpPr txBox="1"/>
          <p:nvPr/>
        </p:nvSpPr>
        <p:spPr>
          <a:xfrm>
            <a:off x="1619402" y="3095244"/>
            <a:ext cx="7543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Production · Harvest · Packhouse &amp; Inventory · Order &amp; Logistics · Quality &amp; Traceability · People &amp; Execution</a:t>
            </a:r>
            <a:endParaRPr lang="en-US" sz="900" dirty="0"/>
          </a:p>
        </p:txBody>
      </p:sp>
      <p:sp>
        <p:nvSpPr>
          <p:cNvPr id="36" name="Text 26"/>
          <p:cNvSpPr txBox="1"/>
          <p:nvPr/>
        </p:nvSpPr>
        <p:spPr>
          <a:xfrm>
            <a:off x="1619402" y="3356762"/>
            <a:ext cx="6858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目标：让每个环节“可记录、可追溯、可核算”，并通过批次贯通全链路</a:t>
            </a:r>
            <a:endParaRPr lang="en-US" sz="9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619402" y="4062679"/>
            <a:ext cx="237744" cy="190195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1962302" y="3981298"/>
            <a:ext cx="4953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业务中台 / 流程层（引擎化能力）</a:t>
            </a:r>
            <a:endParaRPr lang="en-US" sz="1100" dirty="0"/>
          </a:p>
        </p:txBody>
      </p:sp>
      <p:sp>
        <p:nvSpPr>
          <p:cNvPr id="39" name="Text 28"/>
          <p:cNvSpPr txBox="1"/>
          <p:nvPr/>
        </p:nvSpPr>
        <p:spPr>
          <a:xfrm>
            <a:off x="1619402" y="4401007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主数据管理 · 批次引擎 · 库存流转引擎 · 订单履约引擎 · 追溯引擎 · 报表与KPI引擎</a:t>
            </a:r>
            <a:endParaRPr lang="en-US" sz="1000" dirty="0"/>
          </a:p>
        </p:txBody>
      </p:sp>
      <p:sp>
        <p:nvSpPr>
          <p:cNvPr id="40" name="Text 29"/>
          <p:cNvSpPr txBox="1"/>
          <p:nvPr/>
        </p:nvSpPr>
        <p:spPr>
          <a:xfrm>
            <a:off x="1619402" y="4669841"/>
            <a:ext cx="6858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把“规则与流程”沉淀为可复用能力，降低跨系统耦合，支撑阶段式建设</a:t>
            </a:r>
            <a:endParaRPr lang="en-US" sz="900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rcRect l="-1648" r="-1648" t="0" b="0"/>
          <a:stretch/>
        </p:blipFill>
        <p:spPr>
          <a:xfrm>
            <a:off x="1619402" y="5519318"/>
            <a:ext cx="171907" cy="190195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1962302" y="5352898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数据层</a:t>
            </a:r>
            <a:endParaRPr lang="en-US" sz="1200" dirty="0"/>
          </a:p>
        </p:txBody>
      </p:sp>
      <p:sp>
        <p:nvSpPr>
          <p:cNvPr id="43" name="Text 31"/>
          <p:cNvSpPr txBox="1"/>
          <p:nvPr/>
        </p:nvSpPr>
        <p:spPr>
          <a:xfrm>
            <a:off x="1962302" y="5639105"/>
            <a:ext cx="285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对象模型与可追溯记录</a:t>
            </a:r>
            <a:endParaRPr lang="en-US" sz="900" dirty="0"/>
          </a:p>
        </p:txBody>
      </p:sp>
      <p:sp>
        <p:nvSpPr>
          <p:cNvPr id="44" name="Text 32"/>
          <p:cNvSpPr txBox="1"/>
          <p:nvPr/>
        </p:nvSpPr>
        <p:spPr>
          <a:xfrm>
            <a:off x="4953305" y="5352898"/>
            <a:ext cx="352501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Plot / Crop / Plan / Activity / Input / Batch / Grading / Packing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Inventory / Customer / Order / Logistics / QC / Residue Test / Staff / KPI </a:t>
            </a:r>
            <a:endParaRPr lang="en-US" sz="900" dirty="0"/>
          </a:p>
        </p:txBody>
      </p:sp>
      <p:sp>
        <p:nvSpPr>
          <p:cNvPr id="45" name="Text 33"/>
          <p:cNvSpPr txBox="1"/>
          <p:nvPr/>
        </p:nvSpPr>
        <p:spPr>
          <a:xfrm>
            <a:off x="1333195" y="6420002"/>
            <a:ext cx="7429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基础设施层：数据库 · 云服务器 · 文件存储 · API接口 · 消息通知 · 权限系统 · IoT接口（未来可选）</a:t>
            </a:r>
            <a:endParaRPr lang="en-US" sz="90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448495" y="1671523"/>
            <a:ext cx="142646" cy="190195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9734702" y="1580998"/>
            <a:ext cx="18672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关键特性</a:t>
            </a:r>
            <a:endParaRPr lang="en-US" sz="1100" dirty="0"/>
          </a:p>
        </p:txBody>
      </p:sp>
      <p:sp>
        <p:nvSpPr>
          <p:cNvPr id="48" name="Text 35"/>
          <p:cNvSpPr txBox="1"/>
          <p:nvPr/>
        </p:nvSpPr>
        <p:spPr>
          <a:xfrm>
            <a:off x="9734702" y="1819656"/>
            <a:ext cx="18672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用于评审对齐</a:t>
            </a:r>
            <a:endParaRPr lang="en-US" sz="800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601200" y="2412187"/>
            <a:ext cx="171907" cy="171907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9868205" y="2324405"/>
            <a:ext cx="1562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Batch 贯通</a:t>
            </a:r>
            <a:endParaRPr lang="en-US" sz="1000" dirty="0"/>
          </a:p>
        </p:txBody>
      </p:sp>
      <p:sp>
        <p:nvSpPr>
          <p:cNvPr id="51" name="Text 37"/>
          <p:cNvSpPr txBox="1"/>
          <p:nvPr/>
        </p:nvSpPr>
        <p:spPr>
          <a:xfrm>
            <a:off x="9868205" y="2572207"/>
            <a:ext cx="15627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生产—质量—库存—订单同一主键，支持追溯与核算</a:t>
            </a:r>
            <a:endParaRPr lang="en-US" sz="900" dirty="0"/>
          </a:p>
        </p:txBody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842" b="-842"/>
          <a:stretch/>
        </p:blipFill>
        <p:spPr>
          <a:xfrm>
            <a:off x="9601200" y="3707892"/>
            <a:ext cx="190195" cy="171907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9868205" y="3619195"/>
            <a:ext cx="1562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引擎化解耦</a:t>
            </a:r>
            <a:endParaRPr lang="en-US" sz="1000" dirty="0"/>
          </a:p>
        </p:txBody>
      </p:sp>
      <p:sp>
        <p:nvSpPr>
          <p:cNvPr id="54" name="Text 39"/>
          <p:cNvSpPr txBox="1"/>
          <p:nvPr/>
        </p:nvSpPr>
        <p:spPr>
          <a:xfrm>
            <a:off x="9868205" y="3866998"/>
            <a:ext cx="15627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库存/履约/追溯标准化，便于阶段演进与扩展</a:t>
            </a:r>
            <a:endParaRPr lang="en-US" sz="900" dirty="0"/>
          </a:p>
        </p:txBody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9601200" y="5021885"/>
            <a:ext cx="171907" cy="171907"/>
          </a:xfrm>
          <a:prstGeom prst="rect">
            <a:avLst/>
          </a:prstGeom>
        </p:spPr>
      </p:pic>
      <p:sp>
        <p:nvSpPr>
          <p:cNvPr id="56" name="Text 40"/>
          <p:cNvSpPr txBox="1"/>
          <p:nvPr/>
        </p:nvSpPr>
        <p:spPr>
          <a:xfrm>
            <a:off x="9868205" y="4934102"/>
            <a:ext cx="1562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讨论问题</a:t>
            </a:r>
            <a:endParaRPr lang="en-US" sz="1000" dirty="0"/>
          </a:p>
        </p:txBody>
      </p:sp>
      <p:sp>
        <p:nvSpPr>
          <p:cNvPr id="57" name="Text 41"/>
          <p:cNvSpPr txBox="1"/>
          <p:nvPr/>
        </p:nvSpPr>
        <p:spPr>
          <a:xfrm>
            <a:off x="9868205" y="5201107"/>
            <a:ext cx="15627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1) 哪些引擎必须在 Phase 1 就具备？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2) 主数据谁维护、如何校验？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3) 现有系统/表如何对接？ 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38505"/>
            <a:ext cx="875995" cy="6019495"/>
          </a:xfrm>
          <a:prstGeom prst="rect">
            <a:avLst/>
          </a:prstGeom>
          <a:solidFill>
            <a:srgbClr val="0F6C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429207"/>
            <a:ext cx="8973007" cy="5067605"/>
          </a:xfrm>
          <a:prstGeom prst="roundRect">
            <a:avLst>
              <a:gd name="adj" fmla="val 1221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1429207"/>
            <a:ext cx="1447495" cy="5067605"/>
          </a:xfrm>
          <a:prstGeom prst="roundRect">
            <a:avLst>
              <a:gd name="adj" fmla="val 14962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10287000" y="1429207"/>
            <a:ext cx="1429207" cy="5907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401300" y="5143500"/>
            <a:ext cx="1200607" cy="1162202"/>
          </a:xfrm>
          <a:prstGeom prst="roundRect">
            <a:avLst>
              <a:gd name="adj" fmla="val 18057"/>
            </a:avLst>
          </a:prstGeom>
          <a:solidFill>
            <a:srgbClr val="0B2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29207" y="1714500"/>
            <a:ext cx="2734056" cy="2210105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714500"/>
            <a:ext cx="2734056" cy="2210105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276795" y="1714500"/>
            <a:ext cx="2734056" cy="2210105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29207" y="4095598"/>
            <a:ext cx="2734056" cy="2210105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52544" y="4095598"/>
            <a:ext cx="2734056" cy="2210105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1" b="-21"/>
          <a:stretch/>
        </p:blipFill>
        <p:spPr>
          <a:xfrm>
            <a:off x="1429207" y="1714500"/>
            <a:ext cx="2714854" cy="609905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21" b="-21"/>
          <a:stretch/>
        </p:blipFill>
        <p:spPr>
          <a:xfrm>
            <a:off x="4352544" y="1714500"/>
            <a:ext cx="2714854" cy="609905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21" b="-21"/>
          <a:stretch/>
        </p:blipFill>
        <p:spPr>
          <a:xfrm>
            <a:off x="7276795" y="1714500"/>
            <a:ext cx="2714854" cy="609905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21" b="-21"/>
          <a:stretch/>
        </p:blipFill>
        <p:spPr>
          <a:xfrm>
            <a:off x="1429207" y="4095598"/>
            <a:ext cx="2714854" cy="609905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21" b="-21"/>
          <a:stretch/>
        </p:blipFill>
        <p:spPr>
          <a:xfrm>
            <a:off x="4352544" y="4095598"/>
            <a:ext cx="2714854" cy="60990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143000" y="171907"/>
            <a:ext cx="9906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用户与终端层（5类角色）</a:t>
            </a:r>
            <a:endParaRPr lang="en-US" sz="1500" dirty="0"/>
          </a:p>
        </p:txBody>
      </p:sp>
      <p:sp>
        <p:nvSpPr>
          <p:cNvPr id="22" name="Text 14"/>
          <p:cNvSpPr txBox="1"/>
          <p:nvPr/>
        </p:nvSpPr>
        <p:spPr>
          <a:xfrm>
            <a:off x="1143000" y="504749"/>
            <a:ext cx="9906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" kern="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Users &amp; Touchpoints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1143000" y="1009498"/>
            <a:ext cx="9906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讨论重点：不同角色在不同终端完成“采集—审核—执行—追溯”的闭环，减少手工表与口头交接</a:t>
            </a:r>
            <a:endParaRPr lang="en-US" sz="10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458907" y="1669694"/>
            <a:ext cx="171907" cy="171907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0705795" y="1580998"/>
            <a:ext cx="914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对齐点</a:t>
            </a:r>
            <a:endParaRPr lang="en-US" sz="1000" dirty="0"/>
          </a:p>
        </p:txBody>
      </p:sp>
      <p:sp>
        <p:nvSpPr>
          <p:cNvPr id="26" name="Text 17"/>
          <p:cNvSpPr txBox="1"/>
          <p:nvPr/>
        </p:nvSpPr>
        <p:spPr>
          <a:xfrm>
            <a:off x="10705795" y="1809598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讨论清单</a:t>
            </a:r>
            <a:endParaRPr lang="en-US" sz="800" dirty="0"/>
          </a:p>
        </p:txBody>
      </p:sp>
      <p:sp>
        <p:nvSpPr>
          <p:cNvPr id="27" name="Text 18"/>
          <p:cNvSpPr txBox="1"/>
          <p:nvPr/>
        </p:nvSpPr>
        <p:spPr>
          <a:xfrm>
            <a:off x="10458907" y="2143354"/>
            <a:ext cx="1143000" cy="138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1) 谁创建/维护主数据？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2) 谁审核关键记录？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3) 哪些环节必须扫码？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4) 离线如何采集？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5) 权限边界怎么定？ </a:t>
            </a:r>
            <a:endParaRPr lang="en-US" sz="9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554005" y="5362956"/>
            <a:ext cx="152705" cy="15270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0782605" y="5277002"/>
            <a:ext cx="762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原则</a:t>
            </a:r>
            <a:endParaRPr lang="en-US" sz="900" dirty="0"/>
          </a:p>
        </p:txBody>
      </p:sp>
      <p:sp>
        <p:nvSpPr>
          <p:cNvPr id="30" name="Text 20"/>
          <p:cNvSpPr txBox="1"/>
          <p:nvPr/>
        </p:nvSpPr>
        <p:spPr>
          <a:xfrm>
            <a:off x="10782605" y="5514746"/>
            <a:ext cx="7626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先闭环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再扩展 </a:t>
            </a:r>
            <a:endParaRPr lang="en-US" sz="8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rcRect l="-1282" r="-1282" t="0" b="0"/>
          <a:stretch/>
        </p:blipFill>
        <p:spPr>
          <a:xfrm>
            <a:off x="1619402" y="1919326"/>
            <a:ext cx="219456" cy="190195"/>
          </a:xfrm>
          <a:prstGeom prst="rect">
            <a:avLst/>
          </a:prstGeom>
        </p:spPr>
      </p:pic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rcRect l="-1648" r="-1648" t="0" b="0"/>
          <a:stretch/>
        </p:blipFill>
        <p:spPr>
          <a:xfrm>
            <a:off x="4543654" y="1919326"/>
            <a:ext cx="171907" cy="190195"/>
          </a:xfrm>
          <a:prstGeom prst="rect">
            <a:avLst/>
          </a:prstGeom>
        </p:spPr>
      </p:pic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7467905" y="1919326"/>
            <a:ext cx="237744" cy="190195"/>
          </a:xfrm>
          <a:prstGeom prst="rect">
            <a:avLst/>
          </a:prstGeom>
        </p:spPr>
      </p:pic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619402" y="4300423"/>
            <a:ext cx="190195" cy="190195"/>
          </a:xfrm>
          <a:prstGeom prst="rect">
            <a:avLst/>
          </a:prstGeom>
        </p:spPr>
      </p:pic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4543654" y="4300423"/>
            <a:ext cx="237744" cy="190195"/>
          </a:xfrm>
          <a:prstGeom prst="rect">
            <a:avLst/>
          </a:prstGeom>
        </p:spPr>
      </p:pic>
      <p:pic>
        <p:nvPicPr>
          <p:cNvPr id="36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00" b="-100"/>
          <a:stretch/>
        </p:blipFill>
        <p:spPr>
          <a:xfrm>
            <a:off x="3762756" y="1933956"/>
            <a:ext cx="114300" cy="152705"/>
          </a:xfrm>
          <a:prstGeom prst="rect">
            <a:avLst/>
          </a:prstGeom>
        </p:spPr>
      </p:pic>
      <p:pic>
        <p:nvPicPr>
          <p:cNvPr id="37" name="Image 14" descr="preencoded.png">    </p:cNvPr>
          <p:cNvPicPr>
            <a:picLocks noChangeAspect="1"/>
          </p:cNvPicPr>
          <p:nvPr/>
        </p:nvPicPr>
        <p:blipFill>
          <a:blip r:embed="rId15"/>
          <a:srcRect l="-33" r="-33" t="0" b="0"/>
          <a:stretch/>
        </p:blipFill>
        <p:spPr>
          <a:xfrm>
            <a:off x="6687007" y="1933956"/>
            <a:ext cx="171907" cy="152705"/>
          </a:xfrm>
          <a:prstGeom prst="rect">
            <a:avLst/>
          </a:prstGeom>
        </p:spPr>
      </p:pic>
      <p:pic>
        <p:nvPicPr>
          <p:cNvPr id="38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43" b="-43"/>
          <a:stretch/>
        </p:blipFill>
        <p:spPr>
          <a:xfrm>
            <a:off x="9610344" y="1933956"/>
            <a:ext cx="133502" cy="152705"/>
          </a:xfrm>
          <a:prstGeom prst="rect">
            <a:avLst/>
          </a:prstGeom>
        </p:spPr>
      </p:pic>
      <p:pic>
        <p:nvPicPr>
          <p:cNvPr id="39" name="Image 16" descr="preencoded.png">    </p:cNvPr>
          <p:cNvPicPr>
            <a:picLocks noChangeAspect="1"/>
          </p:cNvPicPr>
          <p:nvPr/>
        </p:nvPicPr>
        <p:blipFill>
          <a:blip r:embed="rId17"/>
          <a:srcRect l="-33" r="-33" t="0" b="0"/>
          <a:stretch/>
        </p:blipFill>
        <p:spPr>
          <a:xfrm>
            <a:off x="3762756" y="4315054"/>
            <a:ext cx="171907" cy="152705"/>
          </a:xfrm>
          <a:prstGeom prst="rect">
            <a:avLst/>
          </a:prstGeom>
        </p:spPr>
      </p:pic>
      <p:pic>
        <p:nvPicPr>
          <p:cNvPr id="40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6687007" y="4315054"/>
            <a:ext cx="152705" cy="152705"/>
          </a:xfrm>
          <a:prstGeom prst="rect">
            <a:avLst/>
          </a:prstGeom>
        </p:spPr>
      </p:pic>
      <p:sp>
        <p:nvSpPr>
          <p:cNvPr id="41" name="Text 21"/>
          <p:cNvSpPr txBox="1"/>
          <p:nvPr/>
        </p:nvSpPr>
        <p:spPr>
          <a:xfrm>
            <a:off x="1923898" y="1828800"/>
            <a:ext cx="17629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农场工人</a:t>
            </a:r>
            <a:endParaRPr lang="en-US" sz="1100" dirty="0"/>
          </a:p>
        </p:txBody>
      </p:sp>
      <p:sp>
        <p:nvSpPr>
          <p:cNvPr id="42" name="Text 22"/>
          <p:cNvSpPr txBox="1"/>
          <p:nvPr/>
        </p:nvSpPr>
        <p:spPr>
          <a:xfrm>
            <a:off x="1923898" y="2066544"/>
            <a:ext cx="17629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手机端 · 一线采集</a:t>
            </a:r>
            <a:endParaRPr lang="en-US" sz="800" dirty="0"/>
          </a:p>
        </p:txBody>
      </p:sp>
      <p:sp>
        <p:nvSpPr>
          <p:cNvPr id="43" name="Text 23"/>
          <p:cNvSpPr txBox="1"/>
          <p:nvPr/>
        </p:nvSpPr>
        <p:spPr>
          <a:xfrm>
            <a:off x="4848149" y="1828800"/>
            <a:ext cx="17629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主管 / 经理</a:t>
            </a:r>
            <a:endParaRPr lang="en-US" sz="1100" dirty="0"/>
          </a:p>
        </p:txBody>
      </p:sp>
      <p:sp>
        <p:nvSpPr>
          <p:cNvPr id="44" name="Text 24"/>
          <p:cNvSpPr txBox="1"/>
          <p:nvPr/>
        </p:nvSpPr>
        <p:spPr>
          <a:xfrm>
            <a:off x="4848149" y="2066544"/>
            <a:ext cx="17629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后台 · 审核与看板</a:t>
            </a:r>
            <a:endParaRPr lang="en-US" sz="800" dirty="0"/>
          </a:p>
        </p:txBody>
      </p:sp>
      <p:sp>
        <p:nvSpPr>
          <p:cNvPr id="45" name="Text 25"/>
          <p:cNvSpPr txBox="1"/>
          <p:nvPr/>
        </p:nvSpPr>
        <p:spPr>
          <a:xfrm>
            <a:off x="7772400" y="1828800"/>
            <a:ext cx="17629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包装 / 仓库</a:t>
            </a:r>
            <a:endParaRPr lang="en-US" sz="1100" dirty="0"/>
          </a:p>
        </p:txBody>
      </p:sp>
      <p:sp>
        <p:nvSpPr>
          <p:cNvPr id="46" name="Text 26"/>
          <p:cNvSpPr txBox="1"/>
          <p:nvPr/>
        </p:nvSpPr>
        <p:spPr>
          <a:xfrm>
            <a:off x="7772400" y="2066544"/>
            <a:ext cx="17629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操作端 · 扫码与调整</a:t>
            </a:r>
            <a:endParaRPr lang="en-US" sz="800" dirty="0"/>
          </a:p>
        </p:txBody>
      </p:sp>
      <p:sp>
        <p:nvSpPr>
          <p:cNvPr id="47" name="Text 27"/>
          <p:cNvSpPr txBox="1"/>
          <p:nvPr/>
        </p:nvSpPr>
        <p:spPr>
          <a:xfrm>
            <a:off x="1923898" y="4209898"/>
            <a:ext cx="17629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销售 / 客服</a:t>
            </a:r>
            <a:endParaRPr lang="en-US" sz="1100" dirty="0"/>
          </a:p>
        </p:txBody>
      </p:sp>
      <p:sp>
        <p:nvSpPr>
          <p:cNvPr id="48" name="Text 28"/>
          <p:cNvSpPr txBox="1"/>
          <p:nvPr/>
        </p:nvSpPr>
        <p:spPr>
          <a:xfrm>
            <a:off x="1923898" y="4448556"/>
            <a:ext cx="17629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订单端 · 履约跟踪</a:t>
            </a:r>
            <a:endParaRPr lang="en-US" sz="800" dirty="0"/>
          </a:p>
        </p:txBody>
      </p:sp>
      <p:sp>
        <p:nvSpPr>
          <p:cNvPr id="49" name="Text 29"/>
          <p:cNvSpPr txBox="1"/>
          <p:nvPr/>
        </p:nvSpPr>
        <p:spPr>
          <a:xfrm>
            <a:off x="4848149" y="4209898"/>
            <a:ext cx="17629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客户 / 渠道（可选）</a:t>
            </a:r>
            <a:endParaRPr lang="en-US" sz="1100" dirty="0"/>
          </a:p>
        </p:txBody>
      </p:sp>
      <p:sp>
        <p:nvSpPr>
          <p:cNvPr id="50" name="Text 30"/>
          <p:cNvSpPr txBox="1"/>
          <p:nvPr/>
        </p:nvSpPr>
        <p:spPr>
          <a:xfrm>
            <a:off x="4848149" y="4448556"/>
            <a:ext cx="17629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查询端 · 追溯与进度</a:t>
            </a:r>
            <a:endParaRPr lang="en-US" sz="800" dirty="0"/>
          </a:p>
        </p:txBody>
      </p:sp>
      <p:sp>
        <p:nvSpPr>
          <p:cNvPr id="51" name="Text 31"/>
          <p:cNvSpPr txBox="1"/>
          <p:nvPr/>
        </p:nvSpPr>
        <p:spPr>
          <a:xfrm>
            <a:off x="1619402" y="2438705"/>
            <a:ext cx="23344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关键动作</a:t>
            </a:r>
            <a:endParaRPr lang="en-US" sz="900" dirty="0"/>
          </a:p>
        </p:txBody>
      </p:sp>
      <p:sp>
        <p:nvSpPr>
          <p:cNvPr id="52" name="Text 32"/>
          <p:cNvSpPr txBox="1"/>
          <p:nvPr/>
        </p:nvSpPr>
        <p:spPr>
          <a:xfrm>
            <a:off x="1619402" y="2695651"/>
            <a:ext cx="2334463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查看本人任务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填写农事记录（Activity）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录入投入品使用（Input）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提交日报（Daily Report） </a:t>
            </a:r>
            <a:endParaRPr lang="en-US" sz="900" dirty="0"/>
          </a:p>
        </p:txBody>
      </p:sp>
      <p:sp>
        <p:nvSpPr>
          <p:cNvPr id="53" name="Text 33"/>
          <p:cNvSpPr txBox="1"/>
          <p:nvPr/>
        </p:nvSpPr>
        <p:spPr>
          <a:xfrm>
            <a:off x="1619402" y="3624682"/>
            <a:ext cx="23344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目标：让一线数据“当天可用”</a:t>
            </a:r>
            <a:endParaRPr lang="en-US" sz="800" dirty="0"/>
          </a:p>
        </p:txBody>
      </p:sp>
      <p:sp>
        <p:nvSpPr>
          <p:cNvPr id="54" name="Text 34"/>
          <p:cNvSpPr txBox="1"/>
          <p:nvPr/>
        </p:nvSpPr>
        <p:spPr>
          <a:xfrm>
            <a:off x="4543654" y="2438705"/>
            <a:ext cx="23344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关键动作</a:t>
            </a:r>
            <a:endParaRPr lang="en-US" sz="900" dirty="0"/>
          </a:p>
        </p:txBody>
      </p:sp>
      <p:sp>
        <p:nvSpPr>
          <p:cNvPr id="55" name="Text 35"/>
          <p:cNvSpPr txBox="1"/>
          <p:nvPr/>
        </p:nvSpPr>
        <p:spPr>
          <a:xfrm>
            <a:off x="4543654" y="2695651"/>
            <a:ext cx="2334463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审核农事记录/异常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管理采收与批次规则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查看报表与KPI看板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权限与基础配置 </a:t>
            </a:r>
            <a:endParaRPr lang="en-US" sz="900" dirty="0"/>
          </a:p>
        </p:txBody>
      </p:sp>
      <p:sp>
        <p:nvSpPr>
          <p:cNvPr id="56" name="Text 36"/>
          <p:cNvSpPr txBox="1"/>
          <p:nvPr/>
        </p:nvSpPr>
        <p:spPr>
          <a:xfrm>
            <a:off x="4543654" y="3624682"/>
            <a:ext cx="23344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目标：把“流程”变成“标准”</a:t>
            </a:r>
            <a:endParaRPr lang="en-US" sz="800" dirty="0"/>
          </a:p>
        </p:txBody>
      </p:sp>
      <p:sp>
        <p:nvSpPr>
          <p:cNvPr id="57" name="Text 37"/>
          <p:cNvSpPr txBox="1"/>
          <p:nvPr/>
        </p:nvSpPr>
        <p:spPr>
          <a:xfrm>
            <a:off x="7467905" y="2438705"/>
            <a:ext cx="23344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关键动作</a:t>
            </a:r>
            <a:endParaRPr lang="en-US" sz="900" dirty="0"/>
          </a:p>
        </p:txBody>
      </p:sp>
      <p:sp>
        <p:nvSpPr>
          <p:cNvPr id="58" name="Text 38"/>
          <p:cNvSpPr txBox="1"/>
          <p:nvPr/>
        </p:nvSpPr>
        <p:spPr>
          <a:xfrm>
            <a:off x="7467905" y="2695651"/>
            <a:ext cx="2334463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分级（Grading）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包装（Packing）与标签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库存调整与损耗确认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扫码出入库（Inventory） </a:t>
            </a:r>
            <a:endParaRPr lang="en-US" sz="900" dirty="0"/>
          </a:p>
        </p:txBody>
      </p:sp>
      <p:sp>
        <p:nvSpPr>
          <p:cNvPr id="59" name="Text 39"/>
          <p:cNvSpPr txBox="1"/>
          <p:nvPr/>
        </p:nvSpPr>
        <p:spPr>
          <a:xfrm>
            <a:off x="7467905" y="3624682"/>
            <a:ext cx="23344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目标：库存“可卖、可查、可核”</a:t>
            </a:r>
            <a:endParaRPr lang="en-US" sz="800" dirty="0"/>
          </a:p>
        </p:txBody>
      </p:sp>
      <p:sp>
        <p:nvSpPr>
          <p:cNvPr id="60" name="Text 40"/>
          <p:cNvSpPr txBox="1"/>
          <p:nvPr/>
        </p:nvSpPr>
        <p:spPr>
          <a:xfrm>
            <a:off x="1619402" y="4819802"/>
            <a:ext cx="23344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关键动作</a:t>
            </a:r>
            <a:endParaRPr lang="en-US" sz="900" dirty="0"/>
          </a:p>
        </p:txBody>
      </p:sp>
      <p:sp>
        <p:nvSpPr>
          <p:cNvPr id="61" name="Text 41"/>
          <p:cNvSpPr txBox="1"/>
          <p:nvPr/>
        </p:nvSpPr>
        <p:spPr>
          <a:xfrm>
            <a:off x="1619402" y="5076749"/>
            <a:ext cx="2334463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客户管理（Customer）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订单录入与变更（Order）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出库/配送跟踪（Fulfillment）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客诉登记与回溯 </a:t>
            </a:r>
            <a:endParaRPr lang="en-US" sz="900" dirty="0"/>
          </a:p>
        </p:txBody>
      </p:sp>
      <p:sp>
        <p:nvSpPr>
          <p:cNvPr id="62" name="Text 42"/>
          <p:cNvSpPr txBox="1"/>
          <p:nvPr/>
        </p:nvSpPr>
        <p:spPr>
          <a:xfrm>
            <a:off x="1619402" y="6005779"/>
            <a:ext cx="23344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目标：履约“有状态、可追责”</a:t>
            </a:r>
            <a:endParaRPr lang="en-US" sz="800" dirty="0"/>
          </a:p>
        </p:txBody>
      </p:sp>
      <p:sp>
        <p:nvSpPr>
          <p:cNvPr id="63" name="Text 43"/>
          <p:cNvSpPr txBox="1"/>
          <p:nvPr/>
        </p:nvSpPr>
        <p:spPr>
          <a:xfrm>
            <a:off x="4543654" y="4819802"/>
            <a:ext cx="23344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关键动作</a:t>
            </a:r>
            <a:endParaRPr lang="en-US" sz="900" dirty="0"/>
          </a:p>
        </p:txBody>
      </p:sp>
      <p:sp>
        <p:nvSpPr>
          <p:cNvPr id="64" name="Text 44"/>
          <p:cNvSpPr txBox="1"/>
          <p:nvPr/>
        </p:nvSpPr>
        <p:spPr>
          <a:xfrm>
            <a:off x="4543654" y="5076749"/>
            <a:ext cx="2334463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批次追溯查询（Traceability）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订单进度查看（可选）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合规/准入资料查询（可选） </a:t>
            </a:r>
            <a:endParaRPr lang="en-US" sz="900" dirty="0"/>
          </a:p>
        </p:txBody>
      </p:sp>
      <p:sp>
        <p:nvSpPr>
          <p:cNvPr id="65" name="Text 45"/>
          <p:cNvSpPr txBox="1"/>
          <p:nvPr/>
        </p:nvSpPr>
        <p:spPr>
          <a:xfrm>
            <a:off x="4543654" y="5797296"/>
            <a:ext cx="23344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目标：对外“可信”，对内“可核”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38505"/>
            <a:ext cx="875995" cy="6019495"/>
          </a:xfrm>
          <a:prstGeom prst="rect">
            <a:avLst/>
          </a:prstGeom>
          <a:solidFill>
            <a:srgbClr val="0F6C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429207"/>
            <a:ext cx="8973007" cy="5067605"/>
          </a:xfrm>
          <a:prstGeom prst="roundRect">
            <a:avLst>
              <a:gd name="adj" fmla="val 1221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1429207"/>
            <a:ext cx="1447495" cy="5067605"/>
          </a:xfrm>
          <a:prstGeom prst="roundRect">
            <a:avLst>
              <a:gd name="adj" fmla="val 14962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10287000" y="1429207"/>
            <a:ext cx="1429207" cy="5907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401300" y="5143500"/>
            <a:ext cx="1200607" cy="1162202"/>
          </a:xfrm>
          <a:prstGeom prst="roundRect">
            <a:avLst>
              <a:gd name="adj" fmla="val 18057"/>
            </a:avLst>
          </a:prstGeom>
          <a:solidFill>
            <a:srgbClr val="0B2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33195" y="1714500"/>
            <a:ext cx="2743200" cy="2210105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48302" y="1714500"/>
            <a:ext cx="2743200" cy="2210105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62495" y="1714500"/>
            <a:ext cx="2743200" cy="2210105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333195" y="4095598"/>
            <a:ext cx="2743200" cy="2210105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48302" y="4095598"/>
            <a:ext cx="2743200" cy="2210105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62495" y="4095598"/>
            <a:ext cx="2743200" cy="2210105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8" b="-28"/>
          <a:stretch/>
        </p:blipFill>
        <p:spPr>
          <a:xfrm>
            <a:off x="1333195" y="1714500"/>
            <a:ext cx="2723998" cy="609905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28" b="-28"/>
          <a:stretch/>
        </p:blipFill>
        <p:spPr>
          <a:xfrm>
            <a:off x="4248302" y="1714500"/>
            <a:ext cx="2723998" cy="609905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28" b="-28"/>
          <a:stretch/>
        </p:blipFill>
        <p:spPr>
          <a:xfrm>
            <a:off x="7162495" y="1714500"/>
            <a:ext cx="2723998" cy="609905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28" b="-28"/>
          <a:stretch/>
        </p:blipFill>
        <p:spPr>
          <a:xfrm>
            <a:off x="1333195" y="4095598"/>
            <a:ext cx="2723998" cy="609905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28" b="-28"/>
          <a:stretch/>
        </p:blipFill>
        <p:spPr>
          <a:xfrm>
            <a:off x="4248302" y="4095598"/>
            <a:ext cx="2723998" cy="609905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28" b="-28"/>
          <a:stretch/>
        </p:blipFill>
        <p:spPr>
          <a:xfrm>
            <a:off x="7162495" y="4095598"/>
            <a:ext cx="2723998" cy="60990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143000" y="171907"/>
            <a:ext cx="9906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六大业务系统概览</a:t>
            </a:r>
            <a:endParaRPr lang="en-US" sz="1500" dirty="0"/>
          </a:p>
        </p:txBody>
      </p:sp>
      <p:sp>
        <p:nvSpPr>
          <p:cNvPr id="24" name="Text 15"/>
          <p:cNvSpPr txBox="1"/>
          <p:nvPr/>
        </p:nvSpPr>
        <p:spPr>
          <a:xfrm>
            <a:off x="1143000" y="504749"/>
            <a:ext cx="9906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" kern="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Business Applications · 6 Core Systems</a:t>
            </a:r>
            <a:endParaRPr lang="en-US" sz="900" dirty="0"/>
          </a:p>
        </p:txBody>
      </p:sp>
      <p:sp>
        <p:nvSpPr>
          <p:cNvPr id="25" name="Text 16"/>
          <p:cNvSpPr txBox="1"/>
          <p:nvPr/>
        </p:nvSpPr>
        <p:spPr>
          <a:xfrm>
            <a:off x="1143000" y="1009498"/>
            <a:ext cx="9906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讨论重点：每个系统“输入是什么、产出是什么、主键如何贯通（Plot/Batch/Inventory/Order）”，以最小闭环优先落地</a:t>
            </a:r>
            <a:endParaRPr lang="en-US" sz="10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458907" y="1669694"/>
            <a:ext cx="171907" cy="171907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0705795" y="1580998"/>
            <a:ext cx="914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对齐点</a:t>
            </a:r>
            <a:endParaRPr lang="en-US" sz="1000" dirty="0"/>
          </a:p>
        </p:txBody>
      </p:sp>
      <p:sp>
        <p:nvSpPr>
          <p:cNvPr id="28" name="Text 18"/>
          <p:cNvSpPr txBox="1"/>
          <p:nvPr/>
        </p:nvSpPr>
        <p:spPr>
          <a:xfrm>
            <a:off x="10705795" y="1809598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模块边界</a:t>
            </a:r>
            <a:endParaRPr lang="en-US" sz="800" dirty="0"/>
          </a:p>
        </p:txBody>
      </p:sp>
      <p:sp>
        <p:nvSpPr>
          <p:cNvPr id="29" name="Text 19"/>
          <p:cNvSpPr txBox="1"/>
          <p:nvPr/>
        </p:nvSpPr>
        <p:spPr>
          <a:xfrm>
            <a:off x="10458907" y="2143354"/>
            <a:ext cx="1143000" cy="1571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1) 哪些字段是主数据？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2) Batch 在哪生成？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3) 库存口径怎么定？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4) 订单到出库的状态机？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5) 质量链路的触发点？ </a:t>
            </a:r>
            <a:endParaRPr lang="en-US" sz="9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3" b="-43"/>
          <a:stretch/>
        </p:blipFill>
        <p:spPr>
          <a:xfrm>
            <a:off x="10554005" y="5362956"/>
            <a:ext cx="133502" cy="152705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10782605" y="5277002"/>
            <a:ext cx="762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900" dirty="0"/>
          </a:p>
        </p:txBody>
      </p:sp>
      <p:sp>
        <p:nvSpPr>
          <p:cNvPr id="32" name="Text 21"/>
          <p:cNvSpPr txBox="1"/>
          <p:nvPr/>
        </p:nvSpPr>
        <p:spPr>
          <a:xfrm>
            <a:off x="10782605" y="5514746"/>
            <a:ext cx="7626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先把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Batch打通 </a:t>
            </a:r>
            <a:endParaRPr lang="en-US" sz="8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524305" y="1919326"/>
            <a:ext cx="190195" cy="190195"/>
          </a:xfrm>
          <a:prstGeom prst="rect">
            <a:avLst/>
          </a:prstGeom>
        </p:spPr>
      </p:pic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rcRect l="-1282" r="-1282" t="0" b="0"/>
          <a:stretch/>
        </p:blipFill>
        <p:spPr>
          <a:xfrm>
            <a:off x="4438498" y="1919326"/>
            <a:ext cx="219456" cy="190195"/>
          </a:xfrm>
          <a:prstGeom prst="rect">
            <a:avLst/>
          </a:prstGeom>
        </p:spPr>
      </p:pic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rcRect l="-1282" r="-1282" t="0" b="0"/>
          <a:stretch/>
        </p:blipFill>
        <p:spPr>
          <a:xfrm>
            <a:off x="7353605" y="1919326"/>
            <a:ext cx="219456" cy="190195"/>
          </a:xfrm>
          <a:prstGeom prst="rect">
            <a:avLst/>
          </a:prstGeom>
        </p:spPr>
      </p:pic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1524305" y="4300423"/>
            <a:ext cx="237744" cy="190195"/>
          </a:xfrm>
          <a:prstGeom prst="rect">
            <a:avLst/>
          </a:prstGeom>
        </p:spPr>
      </p:pic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4438498" y="4300423"/>
            <a:ext cx="190195" cy="190195"/>
          </a:xfrm>
          <a:prstGeom prst="rect">
            <a:avLst/>
          </a:prstGeom>
        </p:spPr>
      </p:pic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7353605" y="4300423"/>
            <a:ext cx="237744" cy="190195"/>
          </a:xfrm>
          <a:prstGeom prst="rect">
            <a:avLst/>
          </a:prstGeom>
        </p:spPr>
      </p:pic>
      <p:sp>
        <p:nvSpPr>
          <p:cNvPr id="39" name="Text 22"/>
          <p:cNvSpPr txBox="1"/>
          <p:nvPr/>
        </p:nvSpPr>
        <p:spPr>
          <a:xfrm>
            <a:off x="1828800" y="1828800"/>
            <a:ext cx="2095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生产 Production</a:t>
            </a:r>
            <a:endParaRPr lang="en-US" sz="1100" dirty="0"/>
          </a:p>
        </p:txBody>
      </p:sp>
      <p:sp>
        <p:nvSpPr>
          <p:cNvPr id="40" name="Text 23"/>
          <p:cNvSpPr txBox="1"/>
          <p:nvPr/>
        </p:nvSpPr>
        <p:spPr>
          <a:xfrm>
            <a:off x="1828800" y="2066544"/>
            <a:ext cx="2095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从地块到农事台账</a:t>
            </a:r>
            <a:endParaRPr lang="en-US" sz="800" dirty="0"/>
          </a:p>
        </p:txBody>
      </p:sp>
      <p:sp>
        <p:nvSpPr>
          <p:cNvPr id="41" name="Text 24"/>
          <p:cNvSpPr txBox="1"/>
          <p:nvPr/>
        </p:nvSpPr>
        <p:spPr>
          <a:xfrm>
            <a:off x="4743907" y="1828800"/>
            <a:ext cx="2095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采收 Harvest</a:t>
            </a:r>
            <a:endParaRPr lang="en-US" sz="1100" dirty="0"/>
          </a:p>
        </p:txBody>
      </p:sp>
      <p:sp>
        <p:nvSpPr>
          <p:cNvPr id="42" name="Text 25"/>
          <p:cNvSpPr txBox="1"/>
          <p:nvPr/>
        </p:nvSpPr>
        <p:spPr>
          <a:xfrm>
            <a:off x="4743907" y="2066544"/>
            <a:ext cx="2095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批次生成与产量统计</a:t>
            </a:r>
            <a:endParaRPr lang="en-US" sz="800" dirty="0"/>
          </a:p>
        </p:txBody>
      </p:sp>
      <p:sp>
        <p:nvSpPr>
          <p:cNvPr id="43" name="Text 26"/>
          <p:cNvSpPr txBox="1"/>
          <p:nvPr/>
        </p:nvSpPr>
        <p:spPr>
          <a:xfrm>
            <a:off x="7658100" y="1828800"/>
            <a:ext cx="2095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包装&amp;库存 Packhouse</a:t>
            </a:r>
            <a:endParaRPr lang="en-US" sz="1100" dirty="0"/>
          </a:p>
        </p:txBody>
      </p:sp>
      <p:sp>
        <p:nvSpPr>
          <p:cNvPr id="44" name="Text 27"/>
          <p:cNvSpPr txBox="1"/>
          <p:nvPr/>
        </p:nvSpPr>
        <p:spPr>
          <a:xfrm>
            <a:off x="7658100" y="2066544"/>
            <a:ext cx="2095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分级/包装/可售库存</a:t>
            </a:r>
            <a:endParaRPr lang="en-US" sz="800" dirty="0"/>
          </a:p>
        </p:txBody>
      </p:sp>
      <p:sp>
        <p:nvSpPr>
          <p:cNvPr id="45" name="Text 28"/>
          <p:cNvSpPr txBox="1"/>
          <p:nvPr/>
        </p:nvSpPr>
        <p:spPr>
          <a:xfrm>
            <a:off x="1828800" y="4209898"/>
            <a:ext cx="2095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订单&amp;物流 Order</a:t>
            </a:r>
            <a:endParaRPr lang="en-US" sz="1100" dirty="0"/>
          </a:p>
        </p:txBody>
      </p:sp>
      <p:sp>
        <p:nvSpPr>
          <p:cNvPr id="46" name="Text 29"/>
          <p:cNvSpPr txBox="1"/>
          <p:nvPr/>
        </p:nvSpPr>
        <p:spPr>
          <a:xfrm>
            <a:off x="1828800" y="4448556"/>
            <a:ext cx="2095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履约状态与配送</a:t>
            </a:r>
            <a:endParaRPr lang="en-US" sz="800" dirty="0"/>
          </a:p>
        </p:txBody>
      </p:sp>
      <p:sp>
        <p:nvSpPr>
          <p:cNvPr id="47" name="Text 30"/>
          <p:cNvSpPr txBox="1"/>
          <p:nvPr/>
        </p:nvSpPr>
        <p:spPr>
          <a:xfrm>
            <a:off x="4743907" y="4209898"/>
            <a:ext cx="2095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质量&amp;溯源 Quality</a:t>
            </a:r>
            <a:endParaRPr lang="en-US" sz="1100" dirty="0"/>
          </a:p>
        </p:txBody>
      </p:sp>
      <p:sp>
        <p:nvSpPr>
          <p:cNvPr id="48" name="Text 31"/>
          <p:cNvSpPr txBox="1"/>
          <p:nvPr/>
        </p:nvSpPr>
        <p:spPr>
          <a:xfrm>
            <a:off x="4743907" y="4448556"/>
            <a:ext cx="2095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检测、追溯与合规</a:t>
            </a:r>
            <a:endParaRPr lang="en-US" sz="800" dirty="0"/>
          </a:p>
        </p:txBody>
      </p:sp>
      <p:sp>
        <p:nvSpPr>
          <p:cNvPr id="49" name="Text 32"/>
          <p:cNvSpPr txBox="1"/>
          <p:nvPr/>
        </p:nvSpPr>
        <p:spPr>
          <a:xfrm>
            <a:off x="7658100" y="4209898"/>
            <a:ext cx="2095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人员&amp;执行 People</a:t>
            </a:r>
            <a:endParaRPr lang="en-US" sz="1100" dirty="0"/>
          </a:p>
        </p:txBody>
      </p:sp>
      <p:sp>
        <p:nvSpPr>
          <p:cNvPr id="50" name="Text 33"/>
          <p:cNvSpPr txBox="1"/>
          <p:nvPr/>
        </p:nvSpPr>
        <p:spPr>
          <a:xfrm>
            <a:off x="7658100" y="4448556"/>
            <a:ext cx="2095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任务、日报与KPI</a:t>
            </a:r>
            <a:endParaRPr lang="en-US" sz="800" dirty="0"/>
          </a:p>
        </p:txBody>
      </p:sp>
      <p:sp>
        <p:nvSpPr>
          <p:cNvPr id="51" name="Text 34"/>
          <p:cNvSpPr txBox="1"/>
          <p:nvPr/>
        </p:nvSpPr>
        <p:spPr>
          <a:xfrm>
            <a:off x="1524305" y="2438705"/>
            <a:ext cx="23436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核心对象 / 输出</a:t>
            </a:r>
            <a:endParaRPr lang="en-US" sz="900" dirty="0"/>
          </a:p>
        </p:txBody>
      </p:sp>
      <p:sp>
        <p:nvSpPr>
          <p:cNvPr id="52" name="Text 35"/>
          <p:cNvSpPr txBox="1"/>
          <p:nvPr/>
        </p:nvSpPr>
        <p:spPr>
          <a:xfrm>
            <a:off x="1524305" y="2695651"/>
            <a:ext cx="234360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Plot / Crop / Planting Plan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Activity / Input 记录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生产台账与生长历史 </a:t>
            </a:r>
            <a:endParaRPr lang="en-US" sz="900" dirty="0"/>
          </a:p>
        </p:txBody>
      </p:sp>
      <p:sp>
        <p:nvSpPr>
          <p:cNvPr id="53" name="Text 36"/>
          <p:cNvSpPr txBox="1"/>
          <p:nvPr/>
        </p:nvSpPr>
        <p:spPr>
          <a:xfrm>
            <a:off x="1524305" y="3416198"/>
            <a:ext cx="2343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关键：地块与作物信息标准化</a:t>
            </a:r>
            <a:endParaRPr lang="en-US" sz="800" dirty="0"/>
          </a:p>
        </p:txBody>
      </p:sp>
      <p:sp>
        <p:nvSpPr>
          <p:cNvPr id="54" name="Text 37"/>
          <p:cNvSpPr txBox="1"/>
          <p:nvPr/>
        </p:nvSpPr>
        <p:spPr>
          <a:xfrm>
            <a:off x="4438498" y="2438705"/>
            <a:ext cx="23436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核心对象 / 输出</a:t>
            </a:r>
            <a:endParaRPr lang="en-US" sz="900" dirty="0"/>
          </a:p>
        </p:txBody>
      </p:sp>
      <p:sp>
        <p:nvSpPr>
          <p:cNvPr id="55" name="Text 38"/>
          <p:cNvSpPr txBox="1"/>
          <p:nvPr/>
        </p:nvSpPr>
        <p:spPr>
          <a:xfrm>
            <a:off x="4438498" y="2695651"/>
            <a:ext cx="234360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Harvest Record 采收记录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Batch 批次号生成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Yield 产量统计分析 </a:t>
            </a:r>
            <a:endParaRPr lang="en-US" sz="900" dirty="0"/>
          </a:p>
        </p:txBody>
      </p:sp>
      <p:sp>
        <p:nvSpPr>
          <p:cNvPr id="56" name="Text 39"/>
          <p:cNvSpPr txBox="1"/>
          <p:nvPr/>
        </p:nvSpPr>
        <p:spPr>
          <a:xfrm>
            <a:off x="4438498" y="3416198"/>
            <a:ext cx="2343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关键：Batch 作为全链路主键</a:t>
            </a:r>
            <a:endParaRPr lang="en-US" sz="800" dirty="0"/>
          </a:p>
        </p:txBody>
      </p:sp>
      <p:sp>
        <p:nvSpPr>
          <p:cNvPr id="57" name="Text 40"/>
          <p:cNvSpPr txBox="1"/>
          <p:nvPr/>
        </p:nvSpPr>
        <p:spPr>
          <a:xfrm>
            <a:off x="7353605" y="2438705"/>
            <a:ext cx="23436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核心对象 / 输出</a:t>
            </a:r>
            <a:endParaRPr lang="en-US" sz="900" dirty="0"/>
          </a:p>
        </p:txBody>
      </p:sp>
      <p:sp>
        <p:nvSpPr>
          <p:cNvPr id="58" name="Text 41"/>
          <p:cNvSpPr txBox="1"/>
          <p:nvPr/>
        </p:nvSpPr>
        <p:spPr>
          <a:xfrm>
            <a:off x="7353605" y="2695651"/>
            <a:ext cx="234360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Grading 分级结果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Packing 包装规格/标签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Inventory 可售库存与损耗 </a:t>
            </a:r>
            <a:endParaRPr lang="en-US" sz="900" dirty="0"/>
          </a:p>
        </p:txBody>
      </p:sp>
      <p:sp>
        <p:nvSpPr>
          <p:cNvPr id="59" name="Text 42"/>
          <p:cNvSpPr txBox="1"/>
          <p:nvPr/>
        </p:nvSpPr>
        <p:spPr>
          <a:xfrm>
            <a:off x="7353605" y="3416198"/>
            <a:ext cx="2343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关键：库存口径统一、可核对</a:t>
            </a:r>
            <a:endParaRPr lang="en-US" sz="800" dirty="0"/>
          </a:p>
        </p:txBody>
      </p:sp>
      <p:sp>
        <p:nvSpPr>
          <p:cNvPr id="60" name="Text 43"/>
          <p:cNvSpPr txBox="1"/>
          <p:nvPr/>
        </p:nvSpPr>
        <p:spPr>
          <a:xfrm>
            <a:off x="1524305" y="4819802"/>
            <a:ext cx="23436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核心对象 / 输出</a:t>
            </a:r>
            <a:endParaRPr lang="en-US" sz="900" dirty="0"/>
          </a:p>
        </p:txBody>
      </p:sp>
      <p:sp>
        <p:nvSpPr>
          <p:cNvPr id="61" name="Text 44"/>
          <p:cNvSpPr txBox="1"/>
          <p:nvPr/>
        </p:nvSpPr>
        <p:spPr>
          <a:xfrm>
            <a:off x="1524305" y="5076749"/>
            <a:ext cx="234360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Customer 客户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Order / OrderItem 订单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Fulfillment &amp; Logistics 履约 </a:t>
            </a:r>
            <a:endParaRPr lang="en-US" sz="900" dirty="0"/>
          </a:p>
        </p:txBody>
      </p:sp>
      <p:sp>
        <p:nvSpPr>
          <p:cNvPr id="62" name="Text 45"/>
          <p:cNvSpPr txBox="1"/>
          <p:nvPr/>
        </p:nvSpPr>
        <p:spPr>
          <a:xfrm>
            <a:off x="1524305" y="5797296"/>
            <a:ext cx="2343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关键：订单→出库的状态可追踪</a:t>
            </a:r>
            <a:endParaRPr lang="en-US" sz="800" dirty="0"/>
          </a:p>
        </p:txBody>
      </p:sp>
      <p:sp>
        <p:nvSpPr>
          <p:cNvPr id="63" name="Text 46"/>
          <p:cNvSpPr txBox="1"/>
          <p:nvPr/>
        </p:nvSpPr>
        <p:spPr>
          <a:xfrm>
            <a:off x="4438498" y="4819802"/>
            <a:ext cx="23436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核心对象 / 输出</a:t>
            </a:r>
            <a:endParaRPr lang="en-US" sz="900" dirty="0"/>
          </a:p>
        </p:txBody>
      </p:sp>
      <p:sp>
        <p:nvSpPr>
          <p:cNvPr id="64" name="Text 47"/>
          <p:cNvSpPr txBox="1"/>
          <p:nvPr/>
        </p:nvSpPr>
        <p:spPr>
          <a:xfrm>
            <a:off x="4438498" y="5076749"/>
            <a:ext cx="234360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QC 质量记录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Residue Test 农残检测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Traceability 追溯链路/报告 </a:t>
            </a:r>
            <a:endParaRPr lang="en-US" sz="900" dirty="0"/>
          </a:p>
        </p:txBody>
      </p:sp>
      <p:sp>
        <p:nvSpPr>
          <p:cNvPr id="65" name="Text 48"/>
          <p:cNvSpPr txBox="1"/>
          <p:nvPr/>
        </p:nvSpPr>
        <p:spPr>
          <a:xfrm>
            <a:off x="4438498" y="5797296"/>
            <a:ext cx="2343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关键：Batch → QC → 出库可回溯</a:t>
            </a:r>
            <a:endParaRPr lang="en-US" sz="800" dirty="0"/>
          </a:p>
        </p:txBody>
      </p:sp>
      <p:sp>
        <p:nvSpPr>
          <p:cNvPr id="66" name="Text 49"/>
          <p:cNvSpPr txBox="1"/>
          <p:nvPr/>
        </p:nvSpPr>
        <p:spPr>
          <a:xfrm>
            <a:off x="7353605" y="4819802"/>
            <a:ext cx="23436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核心对象 / 输出</a:t>
            </a:r>
            <a:endParaRPr lang="en-US" sz="900" dirty="0"/>
          </a:p>
        </p:txBody>
      </p:sp>
      <p:sp>
        <p:nvSpPr>
          <p:cNvPr id="67" name="Text 50"/>
          <p:cNvSpPr txBox="1"/>
          <p:nvPr/>
        </p:nvSpPr>
        <p:spPr>
          <a:xfrm>
            <a:off x="7353605" y="5076749"/>
            <a:ext cx="234360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Staff 员工与岗位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Assignment 分工/责任地块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Daily Report 日报与 KPI </a:t>
            </a:r>
            <a:endParaRPr lang="en-US" sz="900" dirty="0"/>
          </a:p>
        </p:txBody>
      </p:sp>
      <p:sp>
        <p:nvSpPr>
          <p:cNvPr id="68" name="Text 51"/>
          <p:cNvSpPr txBox="1"/>
          <p:nvPr/>
        </p:nvSpPr>
        <p:spPr>
          <a:xfrm>
            <a:off x="7353605" y="5797296"/>
            <a:ext cx="2343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关键：责任到人，数据自动汇总绩效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38505"/>
            <a:ext cx="875995" cy="6019495"/>
          </a:xfrm>
          <a:prstGeom prst="rect">
            <a:avLst/>
          </a:prstGeom>
          <a:solidFill>
            <a:srgbClr val="0F6C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429207"/>
            <a:ext cx="8973007" cy="5067605"/>
          </a:xfrm>
          <a:prstGeom prst="roundRect">
            <a:avLst>
              <a:gd name="adj" fmla="val 1221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1429207"/>
            <a:ext cx="1447495" cy="5067605"/>
          </a:xfrm>
          <a:prstGeom prst="roundRect">
            <a:avLst>
              <a:gd name="adj" fmla="val 14962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10287000" y="1429207"/>
            <a:ext cx="1429207" cy="5907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401300" y="4858207"/>
            <a:ext cx="1200607" cy="1447495"/>
          </a:xfrm>
          <a:prstGeom prst="roundRect">
            <a:avLst>
              <a:gd name="adj" fmla="val 16925"/>
            </a:avLst>
          </a:prstGeom>
          <a:solidFill>
            <a:srgbClr val="0B2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29207" y="1904695"/>
            <a:ext cx="8401507" cy="2210105"/>
          </a:xfrm>
          <a:prstGeom prst="roundRect">
            <a:avLst>
              <a:gd name="adj" fmla="val 5707"/>
            </a:avLst>
          </a:prstGeom>
          <a:solidFill>
            <a:srgbClr val="F6F9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1429207" y="1904695"/>
            <a:ext cx="8382305" cy="51480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619402" y="2714854"/>
            <a:ext cx="761695" cy="1067105"/>
          </a:xfrm>
          <a:prstGeom prst="roundRect">
            <a:avLst>
              <a:gd name="adj" fmla="val 42017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457907" y="2714854"/>
            <a:ext cx="761695" cy="1067105"/>
          </a:xfrm>
          <a:prstGeom prst="roundRect">
            <a:avLst>
              <a:gd name="adj" fmla="val 42017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295498" y="2714854"/>
            <a:ext cx="761695" cy="1067105"/>
          </a:xfrm>
          <a:prstGeom prst="roundRect">
            <a:avLst>
              <a:gd name="adj" fmla="val 42017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134002" y="2714854"/>
            <a:ext cx="761695" cy="1067105"/>
          </a:xfrm>
          <a:prstGeom prst="roundRect">
            <a:avLst>
              <a:gd name="adj" fmla="val 42017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72507" y="2619756"/>
            <a:ext cx="780898" cy="1181405"/>
          </a:xfrm>
          <a:prstGeom prst="roundRect">
            <a:avLst>
              <a:gd name="adj" fmla="val 39984"/>
            </a:avLst>
          </a:prstGeom>
          <a:solidFill>
            <a:srgbClr val="FFFFFF"/>
          </a:solidFill>
          <a:ln w="25400">
            <a:solidFill>
              <a:srgbClr val="2B7CD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-54" r="-54" t="0" b="0"/>
          <a:stretch/>
        </p:blipFill>
        <p:spPr>
          <a:xfrm>
            <a:off x="4972507" y="2619756"/>
            <a:ext cx="743407" cy="32369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10098" y="2714854"/>
            <a:ext cx="761695" cy="1067105"/>
          </a:xfrm>
          <a:prstGeom prst="roundRect">
            <a:avLst>
              <a:gd name="adj" fmla="val 42017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48602" y="2619756"/>
            <a:ext cx="780898" cy="1181405"/>
          </a:xfrm>
          <a:prstGeom prst="roundRect">
            <a:avLst>
              <a:gd name="adj" fmla="val 39984"/>
            </a:avLst>
          </a:prstGeom>
          <a:solidFill>
            <a:srgbClr val="FFFFFF"/>
          </a:solidFill>
          <a:ln w="25400">
            <a:solidFill>
              <a:srgbClr val="2B7CD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-54" r="-54" t="0" b="0"/>
          <a:stretch/>
        </p:blipFill>
        <p:spPr>
          <a:xfrm>
            <a:off x="6648602" y="2619756"/>
            <a:ext cx="743407" cy="32369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7487107" y="2714854"/>
            <a:ext cx="761695" cy="1067105"/>
          </a:xfrm>
          <a:prstGeom prst="roundRect">
            <a:avLst>
              <a:gd name="adj" fmla="val 42017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324698" y="2714854"/>
            <a:ext cx="761695" cy="1067105"/>
          </a:xfrm>
          <a:prstGeom prst="roundRect">
            <a:avLst>
              <a:gd name="adj" fmla="val 42017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163202" y="2714854"/>
            <a:ext cx="666598" cy="1067105"/>
          </a:xfrm>
          <a:prstGeom prst="roundRect">
            <a:avLst>
              <a:gd name="adj" fmla="val 54870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2361895" y="3219602"/>
            <a:ext cx="95098" cy="38405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 rot="2700000">
            <a:off x="2400300" y="3181198"/>
            <a:ext cx="95098" cy="95098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200400" y="3219602"/>
            <a:ext cx="95098" cy="38405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 rot="2700000">
            <a:off x="3238805" y="3181198"/>
            <a:ext cx="95098" cy="95098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038905" y="3219602"/>
            <a:ext cx="95098" cy="38405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 rot="2700000">
            <a:off x="4076395" y="3181198"/>
            <a:ext cx="95098" cy="95098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876495" y="3219602"/>
            <a:ext cx="95098" cy="38405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 rot="2700000">
            <a:off x="4914900" y="3181198"/>
            <a:ext cx="95098" cy="95098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715000" y="3219602"/>
            <a:ext cx="95098" cy="38405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 rot="2700000">
            <a:off x="5753405" y="3181198"/>
            <a:ext cx="95098" cy="95098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553505" y="3219602"/>
            <a:ext cx="95098" cy="38405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 rot="2700000">
            <a:off x="6590995" y="3181198"/>
            <a:ext cx="95098" cy="95098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7391095" y="3219602"/>
            <a:ext cx="95098" cy="38405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 rot="2700000">
            <a:off x="7429500" y="3181198"/>
            <a:ext cx="95098" cy="95098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8229600" y="3219602"/>
            <a:ext cx="95098" cy="38405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 rot="2700000">
            <a:off x="8268005" y="3181198"/>
            <a:ext cx="95098" cy="95098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9068105" y="3219602"/>
            <a:ext cx="95098" cy="38405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 rot="2700000">
            <a:off x="9105595" y="3181198"/>
            <a:ext cx="95098" cy="95098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1429207" y="4286707"/>
            <a:ext cx="8401507" cy="1543507"/>
          </a:xfrm>
          <a:prstGeom prst="roundRect">
            <a:avLst>
              <a:gd name="adj" fmla="val 11702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rcRect l="-2" r="-2" t="0" b="0"/>
          <a:stretch/>
        </p:blipFill>
        <p:spPr>
          <a:xfrm>
            <a:off x="1429207" y="4286707"/>
            <a:ext cx="8382305" cy="457200"/>
          </a:xfrm>
          <a:prstGeom prst="rect">
            <a:avLst/>
          </a:prstGeom>
        </p:spPr>
      </p:pic>
      <p:sp>
        <p:nvSpPr>
          <p:cNvPr id="45" name="Shape 38"/>
          <p:cNvSpPr/>
          <p:nvPr/>
        </p:nvSpPr>
        <p:spPr>
          <a:xfrm>
            <a:off x="2190902" y="4953305"/>
            <a:ext cx="1543507" cy="685800"/>
          </a:xfrm>
          <a:prstGeom prst="roundRect">
            <a:avLst>
              <a:gd name="adj" fmla="val 51852"/>
            </a:avLst>
          </a:prstGeom>
          <a:solidFill>
            <a:srgbClr val="F6F9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4095598" y="4953305"/>
            <a:ext cx="1638605" cy="685800"/>
          </a:xfrm>
          <a:prstGeom prst="roundRect">
            <a:avLst>
              <a:gd name="adj" fmla="val 51852"/>
            </a:avLst>
          </a:prstGeom>
          <a:solidFill>
            <a:srgbClr val="F6F9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6096305" y="4953305"/>
            <a:ext cx="1923898" cy="685800"/>
          </a:xfrm>
          <a:prstGeom prst="roundRect">
            <a:avLst>
              <a:gd name="adj" fmla="val 51852"/>
            </a:avLst>
          </a:prstGeom>
          <a:solidFill>
            <a:srgbClr val="F6F9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rcRect l="-445" r="-445" t="0" b="0"/>
          <a:stretch/>
        </p:blipFill>
        <p:spPr>
          <a:xfrm>
            <a:off x="3715207" y="5266944"/>
            <a:ext cx="381305" cy="28346"/>
          </a:xfrm>
          <a:prstGeom prst="rect">
            <a:avLst/>
          </a:prstGeom>
        </p:spPr>
      </p:pic>
      <p:sp>
        <p:nvSpPr>
          <p:cNvPr id="49" name="Shape 41"/>
          <p:cNvSpPr/>
          <p:nvPr/>
        </p:nvSpPr>
        <p:spPr>
          <a:xfrm rot="2700000">
            <a:off x="4019702" y="5219395"/>
            <a:ext cx="95098" cy="95098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rcRect l="-445" r="-445" t="0" b="0"/>
          <a:stretch/>
        </p:blipFill>
        <p:spPr>
          <a:xfrm>
            <a:off x="5715000" y="5266944"/>
            <a:ext cx="381305" cy="28346"/>
          </a:xfrm>
          <a:prstGeom prst="rect">
            <a:avLst/>
          </a:prstGeom>
        </p:spPr>
      </p:pic>
      <p:sp>
        <p:nvSpPr>
          <p:cNvPr id="51" name="Shape 42"/>
          <p:cNvSpPr/>
          <p:nvPr/>
        </p:nvSpPr>
        <p:spPr>
          <a:xfrm rot="2700000">
            <a:off x="6019495" y="5219395"/>
            <a:ext cx="95098" cy="95098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rcRect l="-393" r="-393" t="0" b="0"/>
          <a:stretch/>
        </p:blipFill>
        <p:spPr>
          <a:xfrm>
            <a:off x="5343754" y="3762756"/>
            <a:ext cx="19202" cy="523951"/>
          </a:xfrm>
          <a:prstGeom prst="rect">
            <a:avLst/>
          </a:prstGeom>
        </p:spPr>
      </p:pic>
      <p:sp>
        <p:nvSpPr>
          <p:cNvPr id="53" name="Shape 43"/>
          <p:cNvSpPr/>
          <p:nvPr/>
        </p:nvSpPr>
        <p:spPr>
          <a:xfrm rot="2700000">
            <a:off x="5257800" y="4209898"/>
            <a:ext cx="171907" cy="171907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1429207" y="5905195"/>
            <a:ext cx="8382305" cy="418795"/>
          </a:xfrm>
          <a:prstGeom prst="roundRect">
            <a:avLst>
              <a:gd name="adj" fmla="val 138944"/>
            </a:avLst>
          </a:prstGeom>
          <a:solidFill>
            <a:srgbClr val="0B2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5"/>
          <p:cNvSpPr txBox="1"/>
          <p:nvPr/>
        </p:nvSpPr>
        <p:spPr>
          <a:xfrm>
            <a:off x="1143000" y="171907"/>
            <a:ext cx="9906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核心业务流程（从田间到客户）</a:t>
            </a:r>
            <a:endParaRPr lang="en-US" sz="1500" dirty="0"/>
          </a:p>
        </p:txBody>
      </p:sp>
      <p:sp>
        <p:nvSpPr>
          <p:cNvPr id="56" name="Text 46"/>
          <p:cNvSpPr txBox="1"/>
          <p:nvPr/>
        </p:nvSpPr>
        <p:spPr>
          <a:xfrm>
            <a:off x="1143000" y="504749"/>
            <a:ext cx="9906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" kern="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End-to-End Flow · Plot → Batch → Inventory → Order</a:t>
            </a:r>
            <a:endParaRPr lang="en-US" sz="900" dirty="0"/>
          </a:p>
        </p:txBody>
      </p:sp>
      <p:sp>
        <p:nvSpPr>
          <p:cNvPr id="57" name="Text 47"/>
          <p:cNvSpPr txBox="1"/>
          <p:nvPr/>
        </p:nvSpPr>
        <p:spPr>
          <a:xfrm>
            <a:off x="1143000" y="1009498"/>
            <a:ext cx="9906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讨论重点：用“主干链路 + 质量侧链 + 人员贯穿”解释系统如何跑起来，并明确 Phase 1 必须打通的断点</a:t>
            </a:r>
            <a:endParaRPr lang="en-US" sz="1000" dirty="0"/>
          </a:p>
        </p:txBody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0458907" y="1669694"/>
            <a:ext cx="171907" cy="171907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10705795" y="1580998"/>
            <a:ext cx="914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对齐点</a:t>
            </a:r>
            <a:endParaRPr lang="en-US" sz="1000" dirty="0"/>
          </a:p>
        </p:txBody>
      </p:sp>
      <p:sp>
        <p:nvSpPr>
          <p:cNvPr id="60" name="Text 49"/>
          <p:cNvSpPr txBox="1"/>
          <p:nvPr/>
        </p:nvSpPr>
        <p:spPr>
          <a:xfrm>
            <a:off x="10705795" y="1809598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流程断点</a:t>
            </a:r>
            <a:endParaRPr lang="en-US" sz="800" dirty="0"/>
          </a:p>
        </p:txBody>
      </p:sp>
      <p:sp>
        <p:nvSpPr>
          <p:cNvPr id="61" name="Text 50"/>
          <p:cNvSpPr txBox="1"/>
          <p:nvPr/>
        </p:nvSpPr>
        <p:spPr>
          <a:xfrm>
            <a:off x="10458907" y="2143354"/>
            <a:ext cx="1143000" cy="1705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1) Batch 何时生成？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2) 库存口径如何统一？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3) 订单状态机怎么定义？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4) QC/检测触发点在哪？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5) 哪些环节必须扫码？ </a:t>
            </a:r>
            <a:endParaRPr lang="en-US" sz="900" dirty="0"/>
          </a:p>
        </p:txBody>
      </p:sp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3" b="-43"/>
          <a:stretch/>
        </p:blipFill>
        <p:spPr>
          <a:xfrm>
            <a:off x="10554005" y="5048402"/>
            <a:ext cx="133502" cy="152705"/>
          </a:xfrm>
          <a:prstGeom prst="rect">
            <a:avLst/>
          </a:prstGeom>
        </p:spPr>
      </p:pic>
      <p:sp>
        <p:nvSpPr>
          <p:cNvPr id="63" name="Text 51"/>
          <p:cNvSpPr txBox="1"/>
          <p:nvPr/>
        </p:nvSpPr>
        <p:spPr>
          <a:xfrm>
            <a:off x="10782605" y="4972507"/>
            <a:ext cx="762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Phase 1</a:t>
            </a:r>
            <a:endParaRPr lang="en-US" sz="900" dirty="0"/>
          </a:p>
        </p:txBody>
      </p:sp>
      <p:sp>
        <p:nvSpPr>
          <p:cNvPr id="64" name="Text 52"/>
          <p:cNvSpPr txBox="1"/>
          <p:nvPr/>
        </p:nvSpPr>
        <p:spPr>
          <a:xfrm>
            <a:off x="10782605" y="5210251"/>
            <a:ext cx="7626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先把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Batch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Inventory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打通 </a:t>
            </a:r>
            <a:endParaRPr lang="en-US" sz="800" dirty="0"/>
          </a:p>
        </p:txBody>
      </p:sp>
      <p:pic>
        <p:nvPicPr>
          <p:cNvPr id="6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842" b="-842"/>
          <a:stretch/>
        </p:blipFill>
        <p:spPr>
          <a:xfrm>
            <a:off x="1638605" y="2107692"/>
            <a:ext cx="190195" cy="171907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1886407" y="2018995"/>
            <a:ext cx="7810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主干闭环（从生产到销售）</a:t>
            </a:r>
            <a:endParaRPr lang="en-US" sz="1000" dirty="0"/>
          </a:p>
        </p:txBody>
      </p:sp>
      <p:sp>
        <p:nvSpPr>
          <p:cNvPr id="67" name="Text 54"/>
          <p:cNvSpPr txBox="1"/>
          <p:nvPr/>
        </p:nvSpPr>
        <p:spPr>
          <a:xfrm>
            <a:off x="1886407" y="2247595"/>
            <a:ext cx="7810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Plot → Batch → Inventory → Order 是最关键的经营闭环骨架</a:t>
            </a:r>
            <a:endParaRPr lang="en-US" sz="800" dirty="0"/>
          </a:p>
        </p:txBody>
      </p:sp>
      <p:pic>
        <p:nvPicPr>
          <p:cNvPr id="68" name="Image 11" descr="preencoded.png">    </p:cNvPr>
          <p:cNvPicPr>
            <a:picLocks noChangeAspect="1"/>
          </p:cNvPicPr>
          <p:nvPr/>
        </p:nvPicPr>
        <p:blipFill>
          <a:blip r:embed="rId12"/>
          <a:srcRect l="-1528" r="-1528" t="0" b="0"/>
          <a:stretch/>
        </p:blipFill>
        <p:spPr>
          <a:xfrm>
            <a:off x="1876349" y="2959913"/>
            <a:ext cx="161849" cy="209398"/>
          </a:xfrm>
          <a:prstGeom prst="rect">
            <a:avLst/>
          </a:prstGeom>
        </p:spPr>
      </p:pic>
      <p:sp>
        <p:nvSpPr>
          <p:cNvPr id="69" name="Text 55"/>
          <p:cNvSpPr txBox="1"/>
          <p:nvPr/>
        </p:nvSpPr>
        <p:spPr>
          <a:xfrm>
            <a:off x="1676095" y="3181198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Plot</a:t>
            </a:r>
            <a:endParaRPr lang="en-US" sz="900" dirty="0"/>
          </a:p>
        </p:txBody>
      </p:sp>
      <p:sp>
        <p:nvSpPr>
          <p:cNvPr id="70" name="Text 56"/>
          <p:cNvSpPr txBox="1"/>
          <p:nvPr/>
        </p:nvSpPr>
        <p:spPr>
          <a:xfrm>
            <a:off x="1676095" y="3381451"/>
            <a:ext cx="6291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地块</a:t>
            </a:r>
            <a:endParaRPr lang="en-US" sz="800" dirty="0"/>
          </a:p>
        </p:txBody>
      </p:sp>
      <p:pic>
        <p:nvPicPr>
          <p:cNvPr id="71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600" b="-600"/>
          <a:stretch/>
        </p:blipFill>
        <p:spPr>
          <a:xfrm>
            <a:off x="2723998" y="2959913"/>
            <a:ext cx="181051" cy="209398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2514600" y="3181198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Plan</a:t>
            </a:r>
            <a:endParaRPr lang="en-US" sz="900" dirty="0"/>
          </a:p>
        </p:txBody>
      </p:sp>
      <p:sp>
        <p:nvSpPr>
          <p:cNvPr id="73" name="Text 58"/>
          <p:cNvSpPr txBox="1"/>
          <p:nvPr/>
        </p:nvSpPr>
        <p:spPr>
          <a:xfrm>
            <a:off x="2514600" y="3381451"/>
            <a:ext cx="6291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种植计划</a:t>
            </a:r>
            <a:endParaRPr lang="en-US" sz="800" dirty="0"/>
          </a:p>
        </p:txBody>
      </p:sp>
      <p:pic>
        <p:nvPicPr>
          <p:cNvPr id="74" name="Image 13" descr="preencoded.png">    </p:cNvPr>
          <p:cNvPicPr>
            <a:picLocks noChangeAspect="1"/>
          </p:cNvPicPr>
          <p:nvPr/>
        </p:nvPicPr>
        <p:blipFill>
          <a:blip r:embed="rId14"/>
          <a:srcRect l="-1528" r="-1528" t="0" b="0"/>
          <a:stretch/>
        </p:blipFill>
        <p:spPr>
          <a:xfrm>
            <a:off x="3562502" y="2959913"/>
            <a:ext cx="161849" cy="209398"/>
          </a:xfrm>
          <a:prstGeom prst="rect">
            <a:avLst/>
          </a:prstGeom>
        </p:spPr>
      </p:pic>
      <p:sp>
        <p:nvSpPr>
          <p:cNvPr id="75" name="Text 59"/>
          <p:cNvSpPr txBox="1"/>
          <p:nvPr/>
        </p:nvSpPr>
        <p:spPr>
          <a:xfrm>
            <a:off x="3353105" y="3181198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</a:t>
            </a:r>
            <a:endParaRPr lang="en-US" sz="900" dirty="0"/>
          </a:p>
        </p:txBody>
      </p:sp>
      <p:sp>
        <p:nvSpPr>
          <p:cNvPr id="76" name="Text 60"/>
          <p:cNvSpPr txBox="1"/>
          <p:nvPr/>
        </p:nvSpPr>
        <p:spPr>
          <a:xfrm>
            <a:off x="3353105" y="3381451"/>
            <a:ext cx="6291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农事/投入</a:t>
            </a:r>
            <a:endParaRPr lang="en-US" sz="800" dirty="0"/>
          </a:p>
        </p:txBody>
      </p:sp>
      <p:pic>
        <p:nvPicPr>
          <p:cNvPr id="77" name="Image 14" descr="preencoded.png">    </p:cNvPr>
          <p:cNvPicPr>
            <a:picLocks noChangeAspect="1"/>
          </p:cNvPicPr>
          <p:nvPr/>
        </p:nvPicPr>
        <p:blipFill>
          <a:blip r:embed="rId15"/>
          <a:srcRect l="-461" r="-461" t="0" b="0"/>
          <a:stretch/>
        </p:blipFill>
        <p:spPr>
          <a:xfrm>
            <a:off x="4401007" y="2959913"/>
            <a:ext cx="237744" cy="209398"/>
          </a:xfrm>
          <a:prstGeom prst="rect">
            <a:avLst/>
          </a:prstGeom>
        </p:spPr>
      </p:pic>
      <p:sp>
        <p:nvSpPr>
          <p:cNvPr id="78" name="Text 61"/>
          <p:cNvSpPr txBox="1"/>
          <p:nvPr/>
        </p:nvSpPr>
        <p:spPr>
          <a:xfrm>
            <a:off x="4190695" y="3181198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Harvest</a:t>
            </a:r>
            <a:endParaRPr lang="en-US" sz="900" dirty="0"/>
          </a:p>
        </p:txBody>
      </p:sp>
      <p:sp>
        <p:nvSpPr>
          <p:cNvPr id="79" name="Text 62"/>
          <p:cNvSpPr txBox="1"/>
          <p:nvPr/>
        </p:nvSpPr>
        <p:spPr>
          <a:xfrm>
            <a:off x="4190695" y="3381451"/>
            <a:ext cx="6291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采收</a:t>
            </a:r>
            <a:endParaRPr lang="en-US" sz="800" dirty="0"/>
          </a:p>
        </p:txBody>
      </p:sp>
      <p:pic>
        <p:nvPicPr>
          <p:cNvPr id="80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5238598" y="2845613"/>
            <a:ext cx="209398" cy="209398"/>
          </a:xfrm>
          <a:prstGeom prst="rect">
            <a:avLst/>
          </a:prstGeom>
        </p:spPr>
      </p:pic>
      <p:sp>
        <p:nvSpPr>
          <p:cNvPr id="81" name="Text 63"/>
          <p:cNvSpPr txBox="1"/>
          <p:nvPr/>
        </p:nvSpPr>
        <p:spPr>
          <a:xfrm>
            <a:off x="5029200" y="3066898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Batch</a:t>
            </a:r>
            <a:endParaRPr lang="en-US" sz="900" dirty="0"/>
          </a:p>
        </p:txBody>
      </p:sp>
      <p:sp>
        <p:nvSpPr>
          <p:cNvPr id="82" name="Text 64"/>
          <p:cNvSpPr txBox="1"/>
          <p:nvPr/>
        </p:nvSpPr>
        <p:spPr>
          <a:xfrm>
            <a:off x="5029200" y="3267151"/>
            <a:ext cx="6291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批次主键</a:t>
            </a:r>
            <a:endParaRPr lang="en-US" sz="800" dirty="0"/>
          </a:p>
        </p:txBody>
      </p:sp>
      <p:sp>
        <p:nvSpPr>
          <p:cNvPr id="83" name="Text 65"/>
          <p:cNvSpPr txBox="1"/>
          <p:nvPr/>
        </p:nvSpPr>
        <p:spPr>
          <a:xfrm>
            <a:off x="5029200" y="3450031"/>
            <a:ext cx="6291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贯通全链路</a:t>
            </a:r>
            <a:endParaRPr lang="en-US" sz="800" dirty="0"/>
          </a:p>
        </p:txBody>
      </p:sp>
      <p:pic>
        <p:nvPicPr>
          <p:cNvPr id="84" name="Image 16" descr="preencoded.png">    </p:cNvPr>
          <p:cNvPicPr>
            <a:picLocks noChangeAspect="1"/>
          </p:cNvPicPr>
          <p:nvPr/>
        </p:nvPicPr>
        <p:blipFill>
          <a:blip r:embed="rId17"/>
          <a:srcRect l="-461" r="-461" t="0" b="0"/>
          <a:stretch/>
        </p:blipFill>
        <p:spPr>
          <a:xfrm>
            <a:off x="6077102" y="2959913"/>
            <a:ext cx="237744" cy="209398"/>
          </a:xfrm>
          <a:prstGeom prst="rect">
            <a:avLst/>
          </a:prstGeom>
        </p:spPr>
      </p:pic>
      <p:sp>
        <p:nvSpPr>
          <p:cNvPr id="85" name="Text 66"/>
          <p:cNvSpPr txBox="1"/>
          <p:nvPr/>
        </p:nvSpPr>
        <p:spPr>
          <a:xfrm>
            <a:off x="5867705" y="3181198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Pack</a:t>
            </a:r>
            <a:endParaRPr lang="en-US" sz="900" dirty="0"/>
          </a:p>
        </p:txBody>
      </p:sp>
      <p:sp>
        <p:nvSpPr>
          <p:cNvPr id="86" name="Text 67"/>
          <p:cNvSpPr txBox="1"/>
          <p:nvPr/>
        </p:nvSpPr>
        <p:spPr>
          <a:xfrm>
            <a:off x="5867705" y="3381451"/>
            <a:ext cx="6291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分级/包装</a:t>
            </a:r>
            <a:endParaRPr lang="en-US" sz="800" dirty="0"/>
          </a:p>
        </p:txBody>
      </p:sp>
      <p:pic>
        <p:nvPicPr>
          <p:cNvPr id="87" name="Image 17" descr="preencoded.png">    </p:cNvPr>
          <p:cNvPicPr>
            <a:picLocks noChangeAspect="1"/>
          </p:cNvPicPr>
          <p:nvPr/>
        </p:nvPicPr>
        <p:blipFill>
          <a:blip r:embed="rId18"/>
          <a:srcRect l="-1004" r="-1004" t="0" b="0"/>
          <a:stretch/>
        </p:blipFill>
        <p:spPr>
          <a:xfrm>
            <a:off x="6915607" y="2845613"/>
            <a:ext cx="267005" cy="209398"/>
          </a:xfrm>
          <a:prstGeom prst="rect">
            <a:avLst/>
          </a:prstGeom>
        </p:spPr>
      </p:pic>
      <p:sp>
        <p:nvSpPr>
          <p:cNvPr id="88" name="Text 68"/>
          <p:cNvSpPr txBox="1"/>
          <p:nvPr/>
        </p:nvSpPr>
        <p:spPr>
          <a:xfrm>
            <a:off x="6654089" y="3066898"/>
            <a:ext cx="73243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Inventory</a:t>
            </a:r>
            <a:endParaRPr lang="en-US" sz="900" dirty="0"/>
          </a:p>
        </p:txBody>
      </p:sp>
      <p:sp>
        <p:nvSpPr>
          <p:cNvPr id="89" name="Text 69"/>
          <p:cNvSpPr txBox="1"/>
          <p:nvPr/>
        </p:nvSpPr>
        <p:spPr>
          <a:xfrm>
            <a:off x="6705295" y="3267151"/>
            <a:ext cx="6291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可售库存</a:t>
            </a:r>
            <a:endParaRPr lang="en-US" sz="800" dirty="0"/>
          </a:p>
        </p:txBody>
      </p:sp>
      <p:sp>
        <p:nvSpPr>
          <p:cNvPr id="90" name="Text 70"/>
          <p:cNvSpPr txBox="1"/>
          <p:nvPr/>
        </p:nvSpPr>
        <p:spPr>
          <a:xfrm>
            <a:off x="6705295" y="3444545"/>
            <a:ext cx="6291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经营节点</a:t>
            </a:r>
            <a:endParaRPr lang="en-US" sz="800" dirty="0"/>
          </a:p>
        </p:txBody>
      </p:sp>
      <p:pic>
        <p:nvPicPr>
          <p:cNvPr id="91" name="Image 18" descr="preencoded.png">    </p:cNvPr>
          <p:cNvPicPr>
            <a:picLocks noChangeAspect="1"/>
          </p:cNvPicPr>
          <p:nvPr/>
        </p:nvPicPr>
        <p:blipFill>
          <a:blip r:embed="rId19"/>
          <a:srcRect l="-1528" r="-1528" t="0" b="0"/>
          <a:stretch/>
        </p:blipFill>
        <p:spPr>
          <a:xfrm>
            <a:off x="7753198" y="2959913"/>
            <a:ext cx="161849" cy="209398"/>
          </a:xfrm>
          <a:prstGeom prst="rect">
            <a:avLst/>
          </a:prstGeom>
        </p:spPr>
      </p:pic>
      <p:sp>
        <p:nvSpPr>
          <p:cNvPr id="92" name="Text 71"/>
          <p:cNvSpPr txBox="1"/>
          <p:nvPr/>
        </p:nvSpPr>
        <p:spPr>
          <a:xfrm>
            <a:off x="7543800" y="3181198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Order</a:t>
            </a:r>
            <a:endParaRPr lang="en-US" sz="900" dirty="0"/>
          </a:p>
        </p:txBody>
      </p:sp>
      <p:sp>
        <p:nvSpPr>
          <p:cNvPr id="93" name="Text 72"/>
          <p:cNvSpPr txBox="1"/>
          <p:nvPr/>
        </p:nvSpPr>
        <p:spPr>
          <a:xfrm>
            <a:off x="7543800" y="3381451"/>
            <a:ext cx="6291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订单</a:t>
            </a:r>
            <a:endParaRPr lang="en-US" sz="800" dirty="0"/>
          </a:p>
        </p:txBody>
      </p:sp>
      <p:pic>
        <p:nvPicPr>
          <p:cNvPr id="94" name="Image 19" descr="preencoded.png">    </p:cNvPr>
          <p:cNvPicPr>
            <a:picLocks noChangeAspect="1"/>
          </p:cNvPicPr>
          <p:nvPr/>
        </p:nvPicPr>
        <p:blipFill>
          <a:blip r:embed="rId20"/>
          <a:srcRect l="-1004" r="-1004" t="0" b="0"/>
          <a:stretch/>
        </p:blipFill>
        <p:spPr>
          <a:xfrm>
            <a:off x="8591702" y="2959913"/>
            <a:ext cx="267005" cy="209398"/>
          </a:xfrm>
          <a:prstGeom prst="rect">
            <a:avLst/>
          </a:prstGeom>
        </p:spPr>
      </p:pic>
      <p:sp>
        <p:nvSpPr>
          <p:cNvPr id="95" name="Text 73"/>
          <p:cNvSpPr txBox="1"/>
          <p:nvPr/>
        </p:nvSpPr>
        <p:spPr>
          <a:xfrm>
            <a:off x="8382305" y="3181198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Ship</a:t>
            </a:r>
            <a:endParaRPr lang="en-US" sz="900" dirty="0"/>
          </a:p>
        </p:txBody>
      </p:sp>
      <p:sp>
        <p:nvSpPr>
          <p:cNvPr id="96" name="Text 74"/>
          <p:cNvSpPr txBox="1"/>
          <p:nvPr/>
        </p:nvSpPr>
        <p:spPr>
          <a:xfrm>
            <a:off x="8382305" y="3381451"/>
            <a:ext cx="6291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出库/配送</a:t>
            </a:r>
            <a:endParaRPr lang="en-US" sz="800" dirty="0"/>
          </a:p>
        </p:txBody>
      </p:sp>
      <p:pic>
        <p:nvPicPr>
          <p:cNvPr id="97" name="Image 20" descr="preencoded.png">    </p:cNvPr>
          <p:cNvPicPr>
            <a:picLocks noChangeAspect="1"/>
          </p:cNvPicPr>
          <p:nvPr/>
        </p:nvPicPr>
        <p:blipFill>
          <a:blip r:embed="rId21"/>
          <a:srcRect l="-1004" r="-1004" t="0" b="0"/>
          <a:stretch/>
        </p:blipFill>
        <p:spPr>
          <a:xfrm>
            <a:off x="9363456" y="2959913"/>
            <a:ext cx="267005" cy="209398"/>
          </a:xfrm>
          <a:prstGeom prst="rect">
            <a:avLst/>
          </a:prstGeom>
        </p:spPr>
      </p:pic>
      <p:sp>
        <p:nvSpPr>
          <p:cNvPr id="98" name="Text 75"/>
          <p:cNvSpPr txBox="1"/>
          <p:nvPr/>
        </p:nvSpPr>
        <p:spPr>
          <a:xfrm>
            <a:off x="9191549" y="3181198"/>
            <a:ext cx="590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Customer</a:t>
            </a:r>
            <a:endParaRPr lang="en-US" sz="800" dirty="0"/>
          </a:p>
        </p:txBody>
      </p:sp>
      <p:sp>
        <p:nvSpPr>
          <p:cNvPr id="99" name="Text 76"/>
          <p:cNvSpPr txBox="1"/>
          <p:nvPr/>
        </p:nvSpPr>
        <p:spPr>
          <a:xfrm>
            <a:off x="9191549" y="3372307"/>
            <a:ext cx="590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客户</a:t>
            </a:r>
            <a:endParaRPr lang="en-US" sz="800" dirty="0"/>
          </a:p>
        </p:txBody>
      </p:sp>
      <p:pic>
        <p:nvPicPr>
          <p:cNvPr id="100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1638605" y="4469587"/>
            <a:ext cx="171907" cy="171907"/>
          </a:xfrm>
          <a:prstGeom prst="rect">
            <a:avLst/>
          </a:prstGeom>
        </p:spPr>
      </p:pic>
      <p:sp>
        <p:nvSpPr>
          <p:cNvPr id="101" name="Text 77"/>
          <p:cNvSpPr txBox="1"/>
          <p:nvPr/>
        </p:nvSpPr>
        <p:spPr>
          <a:xfrm>
            <a:off x="1886407" y="4381805"/>
            <a:ext cx="7810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质量侧链（以 Batch 为入口）</a:t>
            </a:r>
            <a:endParaRPr lang="en-US" sz="1000" dirty="0"/>
          </a:p>
        </p:txBody>
      </p:sp>
      <p:sp>
        <p:nvSpPr>
          <p:cNvPr id="102" name="Text 78"/>
          <p:cNvSpPr txBox="1"/>
          <p:nvPr/>
        </p:nvSpPr>
        <p:spPr>
          <a:xfrm>
            <a:off x="1886407" y="4610405"/>
            <a:ext cx="7810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QC/检测结果与出库关联，形成对内复盘、对外可信的追溯证据</a:t>
            </a:r>
            <a:endParaRPr lang="en-US" sz="800" dirty="0"/>
          </a:p>
        </p:txBody>
      </p:sp>
      <p:pic>
        <p:nvPicPr>
          <p:cNvPr id="103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2400300" y="5212994"/>
            <a:ext cx="171907" cy="171907"/>
          </a:xfrm>
          <a:prstGeom prst="rect">
            <a:avLst/>
          </a:prstGeom>
        </p:spPr>
      </p:pic>
      <p:sp>
        <p:nvSpPr>
          <p:cNvPr id="104" name="Text 79"/>
          <p:cNvSpPr txBox="1"/>
          <p:nvPr/>
        </p:nvSpPr>
        <p:spPr>
          <a:xfrm>
            <a:off x="2648102" y="5095951"/>
            <a:ext cx="9912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Batch</a:t>
            </a:r>
            <a:endParaRPr lang="en-US" sz="900" dirty="0"/>
          </a:p>
        </p:txBody>
      </p:sp>
      <p:sp>
        <p:nvSpPr>
          <p:cNvPr id="105" name="Text 80"/>
          <p:cNvSpPr txBox="1"/>
          <p:nvPr/>
        </p:nvSpPr>
        <p:spPr>
          <a:xfrm>
            <a:off x="2648102" y="5315407"/>
            <a:ext cx="991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追溯入口</a:t>
            </a:r>
            <a:endParaRPr lang="en-US" sz="800" dirty="0"/>
          </a:p>
        </p:txBody>
      </p:sp>
      <p:pic>
        <p:nvPicPr>
          <p:cNvPr id="106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4304995" y="5212994"/>
            <a:ext cx="171907" cy="171907"/>
          </a:xfrm>
          <a:prstGeom prst="rect">
            <a:avLst/>
          </a:prstGeom>
        </p:spPr>
      </p:pic>
      <p:sp>
        <p:nvSpPr>
          <p:cNvPr id="107" name="Text 81"/>
          <p:cNvSpPr txBox="1"/>
          <p:nvPr/>
        </p:nvSpPr>
        <p:spPr>
          <a:xfrm>
            <a:off x="4552798" y="5095951"/>
            <a:ext cx="1105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QC / 检测</a:t>
            </a:r>
            <a:endParaRPr lang="en-US" sz="900" dirty="0"/>
          </a:p>
        </p:txBody>
      </p:sp>
      <p:sp>
        <p:nvSpPr>
          <p:cNvPr id="108" name="Text 82"/>
          <p:cNvSpPr txBox="1"/>
          <p:nvPr/>
        </p:nvSpPr>
        <p:spPr>
          <a:xfrm>
            <a:off x="4552798" y="5315407"/>
            <a:ext cx="11055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农残/质检</a:t>
            </a:r>
            <a:endParaRPr lang="en-US" sz="800" dirty="0"/>
          </a:p>
        </p:txBody>
      </p:sp>
      <p:pic>
        <p:nvPicPr>
          <p:cNvPr id="109" name="Image 24" descr="preencoded.png">    </p:cNvPr>
          <p:cNvPicPr>
            <a:picLocks noChangeAspect="1"/>
          </p:cNvPicPr>
          <p:nvPr/>
        </p:nvPicPr>
        <p:blipFill>
          <a:blip r:embed="rId25"/>
          <a:srcRect l="-760" r="-760" t="0" b="0"/>
          <a:stretch/>
        </p:blipFill>
        <p:spPr>
          <a:xfrm>
            <a:off x="6305702" y="5212994"/>
            <a:ext cx="152705" cy="171907"/>
          </a:xfrm>
          <a:prstGeom prst="rect">
            <a:avLst/>
          </a:prstGeom>
        </p:spPr>
      </p:pic>
      <p:sp>
        <p:nvSpPr>
          <p:cNvPr id="110" name="Text 83"/>
          <p:cNvSpPr txBox="1"/>
          <p:nvPr/>
        </p:nvSpPr>
        <p:spPr>
          <a:xfrm>
            <a:off x="6553505" y="5095951"/>
            <a:ext cx="13908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Traceability</a:t>
            </a:r>
            <a:endParaRPr lang="en-US" sz="900" dirty="0"/>
          </a:p>
        </p:txBody>
      </p:sp>
      <p:sp>
        <p:nvSpPr>
          <p:cNvPr id="111" name="Text 84"/>
          <p:cNvSpPr txBox="1"/>
          <p:nvPr/>
        </p:nvSpPr>
        <p:spPr>
          <a:xfrm>
            <a:off x="6553505" y="5315407"/>
            <a:ext cx="13908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追溯链路/报告</a:t>
            </a:r>
            <a:endParaRPr lang="en-US" sz="800" dirty="0"/>
          </a:p>
        </p:txBody>
      </p:sp>
      <p:sp>
        <p:nvSpPr>
          <p:cNvPr id="112" name="Text 85"/>
          <p:cNvSpPr txBox="1"/>
          <p:nvPr/>
        </p:nvSpPr>
        <p:spPr>
          <a:xfrm>
            <a:off x="5477256" y="3924605"/>
            <a:ext cx="1714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 Batch 触发质量记录与追溯</a:t>
            </a:r>
            <a:endParaRPr lang="en-US" sz="800" dirty="0"/>
          </a:p>
        </p:txBody>
      </p:sp>
      <p:pic>
        <p:nvPicPr>
          <p:cNvPr id="113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-180" b="-180"/>
          <a:stretch/>
        </p:blipFill>
        <p:spPr>
          <a:xfrm>
            <a:off x="1638605" y="6067044"/>
            <a:ext cx="190195" cy="152705"/>
          </a:xfrm>
          <a:prstGeom prst="rect">
            <a:avLst/>
          </a:prstGeom>
        </p:spPr>
      </p:pic>
      <p:sp>
        <p:nvSpPr>
          <p:cNvPr id="114" name="Text 86"/>
          <p:cNvSpPr txBox="1"/>
          <p:nvPr/>
        </p:nvSpPr>
        <p:spPr>
          <a:xfrm>
            <a:off x="1867205" y="5982005"/>
            <a:ext cx="7810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人员贯穿：Staff / Assignment / Daily Report 将“执行与责任”绑定到每一步记录，自动汇总 KPI（产量、损耗、周转、履约、质量、人效）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38505"/>
            <a:ext cx="875995" cy="6019495"/>
          </a:xfrm>
          <a:prstGeom prst="rect">
            <a:avLst/>
          </a:prstGeom>
          <a:solidFill>
            <a:srgbClr val="0F6C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429207"/>
            <a:ext cx="8973007" cy="5067605"/>
          </a:xfrm>
          <a:prstGeom prst="roundRect">
            <a:avLst>
              <a:gd name="adj" fmla="val 1221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1429207"/>
            <a:ext cx="1447495" cy="5067605"/>
          </a:xfrm>
          <a:prstGeom prst="roundRect">
            <a:avLst>
              <a:gd name="adj" fmla="val 14962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10287000" y="1429207"/>
            <a:ext cx="1429207" cy="5907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401300" y="5143500"/>
            <a:ext cx="1200607" cy="1162202"/>
          </a:xfrm>
          <a:prstGeom prst="roundRect">
            <a:avLst>
              <a:gd name="adj" fmla="val 18057"/>
            </a:avLst>
          </a:prstGeom>
          <a:solidFill>
            <a:srgbClr val="0B2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29207" y="1762049"/>
            <a:ext cx="2876702" cy="3209544"/>
          </a:xfrm>
          <a:prstGeom prst="roundRect">
            <a:avLst>
              <a:gd name="adj" fmla="val 3789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31" b="-31"/>
          <a:stretch/>
        </p:blipFill>
        <p:spPr>
          <a:xfrm>
            <a:off x="1429207" y="1762049"/>
            <a:ext cx="2857500" cy="74340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638605" y="2572207"/>
            <a:ext cx="2457907" cy="342900"/>
          </a:xfrm>
          <a:prstGeom prst="roundRect">
            <a:avLst>
              <a:gd name="adj" fmla="val 266667"/>
            </a:avLst>
          </a:prstGeom>
          <a:solidFill>
            <a:srgbClr val="F6F9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476902" y="1666951"/>
            <a:ext cx="3086100" cy="3419856"/>
          </a:xfrm>
          <a:prstGeom prst="roundRect">
            <a:avLst>
              <a:gd name="adj" fmla="val 3658"/>
            </a:avLst>
          </a:prstGeom>
          <a:solidFill>
            <a:srgbClr val="FFFFFF"/>
          </a:solidFill>
          <a:ln w="25400">
            <a:solidFill>
              <a:srgbClr val="2B7CD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4" b="-14"/>
          <a:stretch/>
        </p:blipFill>
        <p:spPr>
          <a:xfrm>
            <a:off x="4476902" y="1666951"/>
            <a:ext cx="3047695" cy="819302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38" b="-38"/>
          <a:stretch/>
        </p:blipFill>
        <p:spPr>
          <a:xfrm>
            <a:off x="4476902" y="1666951"/>
            <a:ext cx="1200607" cy="26700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705502" y="2590495"/>
            <a:ext cx="2590495" cy="342900"/>
          </a:xfrm>
          <a:prstGeom prst="roundRect">
            <a:avLst>
              <a:gd name="adj" fmla="val 177778"/>
            </a:avLst>
          </a:prstGeom>
          <a:solidFill>
            <a:srgbClr val="0B2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715707" y="1762049"/>
            <a:ext cx="2876702" cy="3209544"/>
          </a:xfrm>
          <a:prstGeom prst="roundRect">
            <a:avLst>
              <a:gd name="adj" fmla="val 3789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31" b="-31"/>
          <a:stretch/>
        </p:blipFill>
        <p:spPr>
          <a:xfrm>
            <a:off x="7715707" y="1762049"/>
            <a:ext cx="2857500" cy="743407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925105" y="2572207"/>
            <a:ext cx="2457907" cy="342900"/>
          </a:xfrm>
          <a:prstGeom prst="roundRect">
            <a:avLst>
              <a:gd name="adj" fmla="val 266667"/>
            </a:avLst>
          </a:prstGeom>
          <a:solidFill>
            <a:srgbClr val="F6F9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01" b="-401"/>
          <a:stretch/>
        </p:blipFill>
        <p:spPr>
          <a:xfrm>
            <a:off x="1429207" y="5124298"/>
            <a:ext cx="8667598" cy="1920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1429207" y="5572354"/>
            <a:ext cx="8686800" cy="923544"/>
          </a:xfrm>
          <a:prstGeom prst="roundRect">
            <a:avLst>
              <a:gd name="adj" fmla="val 32663"/>
            </a:avLst>
          </a:prstGeom>
          <a:solidFill>
            <a:srgbClr val="F6F9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4095598" y="5762549"/>
            <a:ext cx="5829300" cy="552298"/>
          </a:xfrm>
          <a:prstGeom prst="roundRect">
            <a:avLst>
              <a:gd name="adj" fmla="val 79927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1143000" y="171907"/>
            <a:ext cx="9906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核心主数据架构（三大核心）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1143000" y="504749"/>
            <a:ext cx="9906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" kern="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Master Data Backbone · Plot / Batch / Staff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1143000" y="1009498"/>
            <a:ext cx="9906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讨论重点：主数据是系统骨架——先定义对象、口径与维护责任，才能让批次贯通、库存可核、KPI可算</a:t>
            </a:r>
            <a:endParaRPr lang="en-US" sz="10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-760" r="-760" t="0" b="0"/>
          <a:stretch/>
        </p:blipFill>
        <p:spPr>
          <a:xfrm>
            <a:off x="10458907" y="1669694"/>
            <a:ext cx="152705" cy="171907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0705795" y="1580998"/>
            <a:ext cx="914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对齐点</a:t>
            </a:r>
            <a:endParaRPr lang="en-US" sz="1000" dirty="0"/>
          </a:p>
        </p:txBody>
      </p:sp>
      <p:sp>
        <p:nvSpPr>
          <p:cNvPr id="29" name="Text 20"/>
          <p:cNvSpPr txBox="1"/>
          <p:nvPr/>
        </p:nvSpPr>
        <p:spPr>
          <a:xfrm>
            <a:off x="10705795" y="1809598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主数据治理</a:t>
            </a:r>
            <a:endParaRPr lang="en-US" sz="800" dirty="0"/>
          </a:p>
        </p:txBody>
      </p:sp>
      <p:sp>
        <p:nvSpPr>
          <p:cNvPr id="30" name="Text 21"/>
          <p:cNvSpPr txBox="1"/>
          <p:nvPr/>
        </p:nvSpPr>
        <p:spPr>
          <a:xfrm>
            <a:off x="10458907" y="2143354"/>
            <a:ext cx="1143000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1) 哪些对象算主数据？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2) 谁创建、谁审核？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3) 编码规则如何定？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4) 变更如何留痕？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5) 与批次/库存的关系？ </a:t>
            </a:r>
            <a:endParaRPr lang="en-US" sz="9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554005" y="5362956"/>
            <a:ext cx="152705" cy="152705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0782605" y="5277002"/>
            <a:ext cx="762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原则</a:t>
            </a:r>
            <a:endParaRPr lang="en-US" sz="900" dirty="0"/>
          </a:p>
        </p:txBody>
      </p:sp>
      <p:sp>
        <p:nvSpPr>
          <p:cNvPr id="33" name="Text 23"/>
          <p:cNvSpPr txBox="1"/>
          <p:nvPr/>
        </p:nvSpPr>
        <p:spPr>
          <a:xfrm>
            <a:off x="10782605" y="5514746"/>
            <a:ext cx="7626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主数据先行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口径统一 </a:t>
            </a:r>
            <a:endParaRPr lang="en-US" sz="8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rcRect l="-1528" r="-1528" t="0" b="0"/>
          <a:stretch/>
        </p:blipFill>
        <p:spPr>
          <a:xfrm>
            <a:off x="1638605" y="2064715"/>
            <a:ext cx="161849" cy="209398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1962302" y="1952244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Plot（地块）</a:t>
            </a:r>
            <a:endParaRPr lang="en-US" sz="1200" dirty="0"/>
          </a:p>
        </p:txBody>
      </p:sp>
      <p:sp>
        <p:nvSpPr>
          <p:cNvPr id="36" name="Text 25"/>
          <p:cNvSpPr txBox="1"/>
          <p:nvPr/>
        </p:nvSpPr>
        <p:spPr>
          <a:xfrm>
            <a:off x="1962302" y="2219249"/>
            <a:ext cx="2171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生产源头 · 空间与管理单元</a:t>
            </a:r>
            <a:endParaRPr lang="en-US" sz="800" dirty="0"/>
          </a:p>
        </p:txBody>
      </p:sp>
      <p:sp>
        <p:nvSpPr>
          <p:cNvPr id="37" name="Text 26"/>
          <p:cNvSpPr txBox="1"/>
          <p:nvPr/>
        </p:nvSpPr>
        <p:spPr>
          <a:xfrm>
            <a:off x="1733702" y="2628900"/>
            <a:ext cx="2248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定位：一切“作业记录”的归属</a:t>
            </a:r>
            <a:endParaRPr lang="en-US" sz="900" dirty="0"/>
          </a:p>
        </p:txBody>
      </p:sp>
      <p:sp>
        <p:nvSpPr>
          <p:cNvPr id="38" name="Text 27"/>
          <p:cNvSpPr txBox="1"/>
          <p:nvPr/>
        </p:nvSpPr>
        <p:spPr>
          <a:xfrm>
            <a:off x="1638605" y="3000146"/>
            <a:ext cx="24387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关键属性（示例）</a:t>
            </a:r>
            <a:endParaRPr lang="en-US" sz="900" dirty="0"/>
          </a:p>
        </p:txBody>
      </p:sp>
      <p:sp>
        <p:nvSpPr>
          <p:cNvPr id="39" name="Text 28"/>
          <p:cNvSpPr txBox="1"/>
          <p:nvPr/>
        </p:nvSpPr>
        <p:spPr>
          <a:xfrm>
            <a:off x="1638605" y="3258007"/>
            <a:ext cx="2438705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地块编号/名称/坐标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面积、土壤/灌溉条件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负责人（Plot Owner）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可种植作物/轮作规则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与种植计划关联 </a:t>
            </a:r>
            <a:endParaRPr lang="en-US" sz="900" dirty="0"/>
          </a:p>
        </p:txBody>
      </p:sp>
      <p:sp>
        <p:nvSpPr>
          <p:cNvPr id="40" name="Text 29"/>
          <p:cNvSpPr txBox="1"/>
          <p:nvPr/>
        </p:nvSpPr>
        <p:spPr>
          <a:xfrm>
            <a:off x="1638605" y="4394606"/>
            <a:ext cx="2438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输出：生产台账、活动记录的空间维度</a:t>
            </a:r>
            <a:endParaRPr lang="en-US" sz="800" dirty="0"/>
          </a:p>
        </p:txBody>
      </p:sp>
      <p:sp>
        <p:nvSpPr>
          <p:cNvPr id="41" name="Text 30"/>
          <p:cNvSpPr txBox="1"/>
          <p:nvPr/>
        </p:nvSpPr>
        <p:spPr>
          <a:xfrm>
            <a:off x="4572000" y="1714500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OBJECT</a:t>
            </a:r>
            <a:endParaRPr lang="en-US" sz="90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705502" y="2104949"/>
            <a:ext cx="228600" cy="228600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5067605" y="1962302"/>
            <a:ext cx="2286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Batch（批次）</a:t>
            </a:r>
            <a:endParaRPr lang="en-US" sz="1300" dirty="0"/>
          </a:p>
        </p:txBody>
      </p:sp>
      <p:sp>
        <p:nvSpPr>
          <p:cNvPr id="44" name="Text 32"/>
          <p:cNvSpPr txBox="1"/>
          <p:nvPr/>
        </p:nvSpPr>
        <p:spPr>
          <a:xfrm>
            <a:off x="5067605" y="2247595"/>
            <a:ext cx="2286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全链路主键 · 追溯与核算的连接点</a:t>
            </a:r>
            <a:endParaRPr lang="en-US" sz="800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80" b="-180"/>
          <a:stretch/>
        </p:blipFill>
        <p:spPr>
          <a:xfrm>
            <a:off x="4858207" y="2723998"/>
            <a:ext cx="190195" cy="152705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5067605" y="2648102"/>
            <a:ext cx="2171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串起：生产 → 质量 → 库存 → 订单</a:t>
            </a:r>
            <a:endParaRPr lang="en-US" sz="900" dirty="0"/>
          </a:p>
        </p:txBody>
      </p:sp>
      <p:sp>
        <p:nvSpPr>
          <p:cNvPr id="47" name="Text 34"/>
          <p:cNvSpPr txBox="1"/>
          <p:nvPr/>
        </p:nvSpPr>
        <p:spPr>
          <a:xfrm>
            <a:off x="4705502" y="3066898"/>
            <a:ext cx="25914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关联对象（示例）</a:t>
            </a:r>
            <a:endParaRPr lang="en-US" sz="900" dirty="0"/>
          </a:p>
        </p:txBody>
      </p:sp>
      <p:sp>
        <p:nvSpPr>
          <p:cNvPr id="48" name="Text 35"/>
          <p:cNvSpPr txBox="1"/>
          <p:nvPr/>
        </p:nvSpPr>
        <p:spPr>
          <a:xfrm>
            <a:off x="4705502" y="3323844"/>
            <a:ext cx="25914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来源：Plot / Crop / Harvest Record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加工：Grading / Packing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库存：Inventory（可售口径）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销售：Order / Fulfillment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质量：QC / Residue Test / Traceability </a:t>
            </a:r>
            <a:endParaRPr lang="en-US" sz="900" dirty="0"/>
          </a:p>
        </p:txBody>
      </p:sp>
      <p:sp>
        <p:nvSpPr>
          <p:cNvPr id="49" name="Text 36"/>
          <p:cNvSpPr txBox="1"/>
          <p:nvPr/>
        </p:nvSpPr>
        <p:spPr>
          <a:xfrm>
            <a:off x="4705502" y="4461358"/>
            <a:ext cx="2591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规则：批次生成时点、编码、拆分/合并需一致</a:t>
            </a:r>
            <a:endParaRPr lang="en-US" sz="800" dirty="0"/>
          </a:p>
        </p:txBody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rcRect l="-461" r="-461" t="0" b="0"/>
          <a:stretch/>
        </p:blipFill>
        <p:spPr>
          <a:xfrm>
            <a:off x="7925105" y="2064715"/>
            <a:ext cx="237744" cy="209398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8248802" y="1952244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Staff（人员）</a:t>
            </a:r>
            <a:endParaRPr lang="en-US" sz="1200" dirty="0"/>
          </a:p>
        </p:txBody>
      </p:sp>
      <p:sp>
        <p:nvSpPr>
          <p:cNvPr id="52" name="Text 38"/>
          <p:cNvSpPr txBox="1"/>
          <p:nvPr/>
        </p:nvSpPr>
        <p:spPr>
          <a:xfrm>
            <a:off x="8248802" y="2219249"/>
            <a:ext cx="2171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执行与责任载体 · KPI归因基础</a:t>
            </a:r>
            <a:endParaRPr lang="en-US" sz="800" dirty="0"/>
          </a:p>
        </p:txBody>
      </p:sp>
      <p:sp>
        <p:nvSpPr>
          <p:cNvPr id="53" name="Text 39"/>
          <p:cNvSpPr txBox="1"/>
          <p:nvPr/>
        </p:nvSpPr>
        <p:spPr>
          <a:xfrm>
            <a:off x="8020202" y="2628900"/>
            <a:ext cx="2248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定位：把“记录”绑定到“人”</a:t>
            </a:r>
            <a:endParaRPr lang="en-US" sz="900" dirty="0"/>
          </a:p>
        </p:txBody>
      </p:sp>
      <p:sp>
        <p:nvSpPr>
          <p:cNvPr id="54" name="Text 40"/>
          <p:cNvSpPr txBox="1"/>
          <p:nvPr/>
        </p:nvSpPr>
        <p:spPr>
          <a:xfrm>
            <a:off x="7925105" y="3000146"/>
            <a:ext cx="24387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关键属性（示例）</a:t>
            </a:r>
            <a:endParaRPr lang="en-US" sz="900" dirty="0"/>
          </a:p>
        </p:txBody>
      </p:sp>
      <p:sp>
        <p:nvSpPr>
          <p:cNvPr id="55" name="Text 41"/>
          <p:cNvSpPr txBox="1"/>
          <p:nvPr/>
        </p:nvSpPr>
        <p:spPr>
          <a:xfrm>
            <a:off x="7925105" y="3258007"/>
            <a:ext cx="2438705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员工编号/姓名/角色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组别/岗位/技能标签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Assignment（分工/责任地块）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Daily Report（日报）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KPI 绩效指标 </a:t>
            </a:r>
            <a:endParaRPr lang="en-US" sz="900" dirty="0"/>
          </a:p>
        </p:txBody>
      </p:sp>
      <p:sp>
        <p:nvSpPr>
          <p:cNvPr id="56" name="Text 42"/>
          <p:cNvSpPr txBox="1"/>
          <p:nvPr/>
        </p:nvSpPr>
        <p:spPr>
          <a:xfrm>
            <a:off x="7925105" y="4394606"/>
            <a:ext cx="2438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输出：责任归属、工时/人效、考核依据</a:t>
            </a:r>
            <a:endParaRPr lang="en-US" sz="800" dirty="0"/>
          </a:p>
        </p:txBody>
      </p:sp>
      <p:sp>
        <p:nvSpPr>
          <p:cNvPr id="57" name="Text 43"/>
          <p:cNvSpPr txBox="1"/>
          <p:nvPr/>
        </p:nvSpPr>
        <p:spPr>
          <a:xfrm>
            <a:off x="1429207" y="5219395"/>
            <a:ext cx="8668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关系要点：Plot 定义来源与归属 → Batch 串起全链条 → Staff 绑定执行与责任（支撑追溯与KPI）</a:t>
            </a:r>
            <a:endParaRPr lang="en-US" sz="900" dirty="0"/>
          </a:p>
        </p:txBody>
      </p:sp>
      <p:pic>
        <p:nvPicPr>
          <p:cNvPr id="58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842" b="-842"/>
          <a:stretch/>
        </p:blipFill>
        <p:spPr>
          <a:xfrm>
            <a:off x="1638605" y="5860390"/>
            <a:ext cx="190195" cy="171907"/>
          </a:xfrm>
          <a:prstGeom prst="rect">
            <a:avLst/>
          </a:prstGeom>
        </p:spPr>
      </p:pic>
      <p:sp>
        <p:nvSpPr>
          <p:cNvPr id="59" name="Text 44"/>
          <p:cNvSpPr txBox="1"/>
          <p:nvPr/>
        </p:nvSpPr>
        <p:spPr>
          <a:xfrm>
            <a:off x="1886407" y="5772607"/>
            <a:ext cx="2095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辅助主数据（示例）</a:t>
            </a:r>
            <a:endParaRPr lang="en-US" sz="1000" dirty="0"/>
          </a:p>
        </p:txBody>
      </p:sp>
      <p:sp>
        <p:nvSpPr>
          <p:cNvPr id="60" name="Text 45"/>
          <p:cNvSpPr txBox="1"/>
          <p:nvPr/>
        </p:nvSpPr>
        <p:spPr>
          <a:xfrm>
            <a:off x="1886407" y="6001207"/>
            <a:ext cx="2095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为业务系统提供稳定字典与口径</a:t>
            </a:r>
            <a:endParaRPr lang="en-US" sz="800" dirty="0"/>
          </a:p>
        </p:txBody>
      </p:sp>
      <p:sp>
        <p:nvSpPr>
          <p:cNvPr id="61" name="Text 46"/>
          <p:cNvSpPr txBox="1"/>
          <p:nvPr/>
        </p:nvSpPr>
        <p:spPr>
          <a:xfrm>
            <a:off x="4229100" y="5867705"/>
            <a:ext cx="55440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Crop（作物） · Variety（品种） · Customer（客户） · Input（投入品） · Packaging Spec（包装规格）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38505"/>
            <a:ext cx="875995" cy="6019495"/>
          </a:xfrm>
          <a:prstGeom prst="rect">
            <a:avLst/>
          </a:prstGeom>
          <a:solidFill>
            <a:srgbClr val="0F6C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429207"/>
            <a:ext cx="8973007" cy="5067605"/>
          </a:xfrm>
          <a:prstGeom prst="roundRect">
            <a:avLst>
              <a:gd name="adj" fmla="val 1221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1429207"/>
            <a:ext cx="1447495" cy="5067605"/>
          </a:xfrm>
          <a:prstGeom prst="roundRect">
            <a:avLst>
              <a:gd name="adj" fmla="val 14962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10287000" y="1429207"/>
            <a:ext cx="1429207" cy="5907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401300" y="4858207"/>
            <a:ext cx="1200607" cy="1447495"/>
          </a:xfrm>
          <a:prstGeom prst="roundRect">
            <a:avLst>
              <a:gd name="adj" fmla="val 16925"/>
            </a:avLst>
          </a:prstGeom>
          <a:solidFill>
            <a:srgbClr val="0B2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29207" y="1619402"/>
            <a:ext cx="8401507" cy="437998"/>
          </a:xfrm>
          <a:prstGeom prst="roundRect">
            <a:avLst>
              <a:gd name="adj" fmla="val 127076"/>
            </a:avLst>
          </a:prstGeom>
          <a:solidFill>
            <a:srgbClr val="EEF6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71854" y="2286000"/>
            <a:ext cx="1923898" cy="838505"/>
          </a:xfrm>
          <a:prstGeom prst="roundRect">
            <a:avLst>
              <a:gd name="adj" fmla="val 34698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-15" r="-15" t="0" b="0"/>
          <a:stretch/>
        </p:blipFill>
        <p:spPr>
          <a:xfrm>
            <a:off x="1571854" y="2286000"/>
            <a:ext cx="1904695" cy="32369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857854" y="2286000"/>
            <a:ext cx="2115007" cy="838505"/>
          </a:xfrm>
          <a:prstGeom prst="roundRect">
            <a:avLst>
              <a:gd name="adj" fmla="val 34698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-31" r="-31" t="0" b="0"/>
          <a:stretch/>
        </p:blipFill>
        <p:spPr>
          <a:xfrm>
            <a:off x="3857854" y="2286000"/>
            <a:ext cx="2095805" cy="32369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334049" y="2190902"/>
            <a:ext cx="2324405" cy="1047902"/>
          </a:xfrm>
          <a:prstGeom prst="roundRect">
            <a:avLst>
              <a:gd name="adj" fmla="val 25385"/>
            </a:avLst>
          </a:prstGeom>
          <a:solidFill>
            <a:srgbClr val="FFFFFF"/>
          </a:solidFill>
          <a:ln w="25400">
            <a:solidFill>
              <a:srgbClr val="2B7CD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0" b="-40"/>
          <a:stretch/>
        </p:blipFill>
        <p:spPr>
          <a:xfrm>
            <a:off x="6334049" y="2190902"/>
            <a:ext cx="2286000" cy="381305"/>
          </a:xfrm>
          <a:prstGeom prst="rect">
            <a:avLst/>
          </a:prstGeom>
        </p:spPr>
      </p:pic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21" b="-21"/>
          <a:stretch/>
        </p:blipFill>
        <p:spPr>
          <a:xfrm>
            <a:off x="6334049" y="2190902"/>
            <a:ext cx="819302" cy="247802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1571854" y="3733495"/>
            <a:ext cx="2305202" cy="838505"/>
          </a:xfrm>
          <a:prstGeom prst="roundRect">
            <a:avLst>
              <a:gd name="adj" fmla="val 34698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-23" r="-23" t="0" b="0"/>
          <a:stretch/>
        </p:blipFill>
        <p:spPr>
          <a:xfrm>
            <a:off x="1571854" y="3733495"/>
            <a:ext cx="2286000" cy="323698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4238244" y="3733495"/>
            <a:ext cx="2210105" cy="838505"/>
          </a:xfrm>
          <a:prstGeom prst="roundRect">
            <a:avLst>
              <a:gd name="adj" fmla="val 34698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-27" r="-27" t="0" b="0"/>
          <a:stretch/>
        </p:blipFill>
        <p:spPr>
          <a:xfrm>
            <a:off x="4238244" y="3733495"/>
            <a:ext cx="2190902" cy="323698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810451" y="3733495"/>
            <a:ext cx="2400300" cy="838505"/>
          </a:xfrm>
          <a:prstGeom prst="roundRect">
            <a:avLst>
              <a:gd name="adj" fmla="val 34698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rcRect l="-20" r="-20" t="0" b="0"/>
          <a:stretch/>
        </p:blipFill>
        <p:spPr>
          <a:xfrm>
            <a:off x="6810451" y="3733495"/>
            <a:ext cx="2381098" cy="323698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2523744" y="5124298"/>
            <a:ext cx="2514600" cy="1047902"/>
          </a:xfrm>
          <a:prstGeom prst="roundRect">
            <a:avLst>
              <a:gd name="adj" fmla="val 25385"/>
            </a:avLst>
          </a:prstGeom>
          <a:solidFill>
            <a:srgbClr val="FFFFFF"/>
          </a:solidFill>
          <a:ln w="25400">
            <a:solidFill>
              <a:srgbClr val="2B7CD3"/>
            </a:solidFill>
            <a:prstDash val="solid"/>
          </a:ln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rcRect l="-17" r="-17" t="0" b="0"/>
          <a:stretch/>
        </p:blipFill>
        <p:spPr>
          <a:xfrm>
            <a:off x="2523744" y="5124298"/>
            <a:ext cx="2476195" cy="323698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5572354" y="5124298"/>
            <a:ext cx="2210105" cy="1028700"/>
          </a:xfrm>
          <a:prstGeom prst="roundRect">
            <a:avLst>
              <a:gd name="adj" fmla="val 26337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rcRect l="-27" r="-27" t="0" b="0"/>
          <a:stretch/>
        </p:blipFill>
        <p:spPr>
          <a:xfrm>
            <a:off x="5572354" y="5124298"/>
            <a:ext cx="2190902" cy="323698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8048549" y="5124298"/>
            <a:ext cx="1686154" cy="1028700"/>
          </a:xfrm>
          <a:prstGeom prst="roundRect">
            <a:avLst>
              <a:gd name="adj" fmla="val 26337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rcRect l="-26" r="-26" t="0" b="0"/>
          <a:stretch/>
        </p:blipFill>
        <p:spPr>
          <a:xfrm>
            <a:off x="8048549" y="5124298"/>
            <a:ext cx="1666951" cy="323698"/>
          </a:xfrm>
          <a:prstGeom prst="rect">
            <a:avLst/>
          </a:prstGeom>
        </p:spPr>
      </p:pic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rcRect l="-363" r="-363" t="0" b="0"/>
          <a:stretch/>
        </p:blipFill>
        <p:spPr>
          <a:xfrm>
            <a:off x="2523744" y="3105302"/>
            <a:ext cx="19202" cy="629107"/>
          </a:xfrm>
          <a:prstGeom prst="rect">
            <a:avLst/>
          </a:prstGeom>
        </p:spPr>
      </p:pic>
      <p:sp>
        <p:nvSpPr>
          <p:cNvPr id="32" name="Shape 18"/>
          <p:cNvSpPr/>
          <p:nvPr/>
        </p:nvSpPr>
        <p:spPr>
          <a:xfrm rot="2700000">
            <a:off x="2457907" y="3638398"/>
            <a:ext cx="152705" cy="152705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rcRect l="-363" r="-363" t="0" b="0"/>
          <a:stretch/>
        </p:blipFill>
        <p:spPr>
          <a:xfrm>
            <a:off x="4905756" y="3105302"/>
            <a:ext cx="19202" cy="629107"/>
          </a:xfrm>
          <a:prstGeom prst="rect">
            <a:avLst/>
          </a:prstGeom>
        </p:spPr>
      </p:pic>
      <p:sp>
        <p:nvSpPr>
          <p:cNvPr id="34" name="Shape 19"/>
          <p:cNvSpPr/>
          <p:nvPr/>
        </p:nvSpPr>
        <p:spPr>
          <a:xfrm rot="2700000">
            <a:off x="4839005" y="3638398"/>
            <a:ext cx="152705" cy="152705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360" b="-360"/>
          <a:stretch/>
        </p:blipFill>
        <p:spPr>
          <a:xfrm>
            <a:off x="3857854" y="4143146"/>
            <a:ext cx="381305" cy="19202"/>
          </a:xfrm>
          <a:prstGeom prst="rect">
            <a:avLst/>
          </a:prstGeom>
        </p:spPr>
      </p:pic>
      <p:sp>
        <p:nvSpPr>
          <p:cNvPr id="36" name="Shape 20"/>
          <p:cNvSpPr/>
          <p:nvPr/>
        </p:nvSpPr>
        <p:spPr>
          <a:xfrm rot="2700000">
            <a:off x="4162349" y="4076395"/>
            <a:ext cx="152705" cy="152705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21" b="-21"/>
          <a:stretch/>
        </p:blipFill>
        <p:spPr>
          <a:xfrm rot="1080000">
            <a:off x="3357677" y="3306470"/>
            <a:ext cx="2768803" cy="916229"/>
          </a:xfrm>
          <a:prstGeom prst="rect">
            <a:avLst/>
          </a:prstGeom>
        </p:spPr>
      </p:pic>
      <p:sp>
        <p:nvSpPr>
          <p:cNvPr id="38" name="Shape 21"/>
          <p:cNvSpPr/>
          <p:nvPr/>
        </p:nvSpPr>
        <p:spPr>
          <a:xfrm rot="2700000">
            <a:off x="5982005" y="3238805"/>
            <a:ext cx="133502" cy="133502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15" descr="preencoded.png">    </p:cNvPr>
          <p:cNvPicPr>
            <a:picLocks noChangeAspect="1"/>
          </p:cNvPicPr>
          <p:nvPr/>
        </p:nvPicPr>
        <p:blipFill>
          <a:blip r:embed="rId16"/>
          <a:srcRect l="-28" r="-28" t="0" b="0"/>
          <a:stretch/>
        </p:blipFill>
        <p:spPr>
          <a:xfrm rot="1200000">
            <a:off x="5784494" y="2956255"/>
            <a:ext cx="811987" cy="310896"/>
          </a:xfrm>
          <a:prstGeom prst="rect">
            <a:avLst/>
          </a:prstGeom>
        </p:spPr>
      </p:pic>
      <p:sp>
        <p:nvSpPr>
          <p:cNvPr id="40" name="Shape 22"/>
          <p:cNvSpPr/>
          <p:nvPr/>
        </p:nvSpPr>
        <p:spPr>
          <a:xfrm rot="2700000">
            <a:off x="6210605" y="3105302"/>
            <a:ext cx="133502" cy="133502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16" descr="preencoded.png">    </p:cNvPr>
          <p:cNvPicPr>
            <a:picLocks noChangeAspect="1"/>
          </p:cNvPicPr>
          <p:nvPr/>
        </p:nvPicPr>
        <p:blipFill>
          <a:blip r:embed="rId17"/>
          <a:srcRect l="-429" r="-429" t="0" b="0"/>
          <a:stretch/>
        </p:blipFill>
        <p:spPr>
          <a:xfrm>
            <a:off x="7477049" y="3200400"/>
            <a:ext cx="19202" cy="533095"/>
          </a:xfrm>
          <a:prstGeom prst="rect">
            <a:avLst/>
          </a:prstGeom>
        </p:spPr>
      </p:pic>
      <p:sp>
        <p:nvSpPr>
          <p:cNvPr id="42" name="Shape 23"/>
          <p:cNvSpPr/>
          <p:nvPr/>
        </p:nvSpPr>
        <p:spPr>
          <a:xfrm rot="2700000">
            <a:off x="7410298" y="3638398"/>
            <a:ext cx="152705" cy="152705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3" name="Image 17" descr="preencoded.png">    </p:cNvPr>
          <p:cNvPicPr>
            <a:picLocks noChangeAspect="1"/>
          </p:cNvPicPr>
          <p:nvPr/>
        </p:nvPicPr>
        <p:blipFill>
          <a:blip r:embed="rId18"/>
          <a:srcRect l="-400" r="-400" t="0" b="0"/>
          <a:stretch/>
        </p:blipFill>
        <p:spPr>
          <a:xfrm>
            <a:off x="7048195" y="3200400"/>
            <a:ext cx="19202" cy="800100"/>
          </a:xfrm>
          <a:prstGeom prst="rect">
            <a:avLst/>
          </a:prstGeom>
        </p:spPr>
      </p:pic>
      <p:pic>
        <p:nvPicPr>
          <p:cNvPr id="44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-59" b="-59"/>
          <a:stretch/>
        </p:blipFill>
        <p:spPr>
          <a:xfrm rot="1500000">
            <a:off x="6870802" y="3964838"/>
            <a:ext cx="371246" cy="768096"/>
          </a:xfrm>
          <a:prstGeom prst="rect">
            <a:avLst/>
          </a:prstGeom>
        </p:spPr>
      </p:pic>
      <p:sp>
        <p:nvSpPr>
          <p:cNvPr id="45" name="Shape 24"/>
          <p:cNvSpPr/>
          <p:nvPr/>
        </p:nvSpPr>
        <p:spPr>
          <a:xfrm rot="2700000">
            <a:off x="5029200" y="4876495"/>
            <a:ext cx="152705" cy="152705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-400" b="-400"/>
          <a:stretch/>
        </p:blipFill>
        <p:spPr>
          <a:xfrm>
            <a:off x="5000854" y="5639105"/>
            <a:ext cx="571500" cy="19202"/>
          </a:xfrm>
          <a:prstGeom prst="rect">
            <a:avLst/>
          </a:prstGeom>
        </p:spPr>
      </p:pic>
      <p:sp>
        <p:nvSpPr>
          <p:cNvPr id="47" name="Shape 25"/>
          <p:cNvSpPr/>
          <p:nvPr/>
        </p:nvSpPr>
        <p:spPr>
          <a:xfrm rot="2700000">
            <a:off x="5495544" y="5572354"/>
            <a:ext cx="152705" cy="152705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-320" b="-320"/>
          <a:stretch/>
        </p:blipFill>
        <p:spPr>
          <a:xfrm>
            <a:off x="7763256" y="5639105"/>
            <a:ext cx="286207" cy="19202"/>
          </a:xfrm>
          <a:prstGeom prst="rect">
            <a:avLst/>
          </a:prstGeom>
        </p:spPr>
      </p:pic>
      <p:sp>
        <p:nvSpPr>
          <p:cNvPr id="49" name="Shape 26"/>
          <p:cNvSpPr/>
          <p:nvPr/>
        </p:nvSpPr>
        <p:spPr>
          <a:xfrm rot="2700000">
            <a:off x="7972654" y="5572354"/>
            <a:ext cx="152705" cy="152705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27"/>
          <p:cNvSpPr/>
          <p:nvPr/>
        </p:nvSpPr>
        <p:spPr>
          <a:xfrm>
            <a:off x="5067605" y="5296205"/>
            <a:ext cx="2667305" cy="323698"/>
          </a:xfrm>
          <a:prstGeom prst="roundRect">
            <a:avLst>
              <a:gd name="adj" fmla="val 282486"/>
            </a:avLst>
          </a:prstGeom>
          <a:solidFill>
            <a:srgbClr val="0B2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28"/>
          <p:cNvSpPr/>
          <p:nvPr/>
        </p:nvSpPr>
        <p:spPr>
          <a:xfrm>
            <a:off x="8667598" y="2333549"/>
            <a:ext cx="1162202" cy="761695"/>
          </a:xfrm>
          <a:prstGeom prst="roundRect">
            <a:avLst>
              <a:gd name="adj" fmla="val 42017"/>
            </a:avLst>
          </a:prstGeom>
          <a:solidFill>
            <a:srgbClr val="F6F9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52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-299" b="-299"/>
          <a:stretch/>
        </p:blipFill>
        <p:spPr>
          <a:xfrm>
            <a:off x="8620049" y="2686507"/>
            <a:ext cx="152705" cy="19202"/>
          </a:xfrm>
          <a:prstGeom prst="rect">
            <a:avLst/>
          </a:prstGeom>
        </p:spPr>
      </p:pic>
      <p:sp>
        <p:nvSpPr>
          <p:cNvPr id="53" name="Shape 29"/>
          <p:cNvSpPr/>
          <p:nvPr/>
        </p:nvSpPr>
        <p:spPr>
          <a:xfrm rot="2700000">
            <a:off x="8734349" y="2628900"/>
            <a:ext cx="133502" cy="133502"/>
          </a:xfrm>
          <a:prstGeom prst="rect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30"/>
          <p:cNvSpPr txBox="1"/>
          <p:nvPr/>
        </p:nvSpPr>
        <p:spPr>
          <a:xfrm>
            <a:off x="1143000" y="171907"/>
            <a:ext cx="9906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系统主键关系图（关键关联）</a:t>
            </a:r>
            <a:endParaRPr lang="en-US" sz="1500" dirty="0"/>
          </a:p>
        </p:txBody>
      </p:sp>
      <p:sp>
        <p:nvSpPr>
          <p:cNvPr id="55" name="Text 31"/>
          <p:cNvSpPr txBox="1"/>
          <p:nvPr/>
        </p:nvSpPr>
        <p:spPr>
          <a:xfrm>
            <a:off x="1143000" y="504749"/>
            <a:ext cx="9906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" kern="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ERD · Plot / Batch / Inventory / Order</a:t>
            </a:r>
            <a:endParaRPr lang="en-US" sz="900" dirty="0"/>
          </a:p>
        </p:txBody>
      </p:sp>
      <p:sp>
        <p:nvSpPr>
          <p:cNvPr id="56" name="Text 32"/>
          <p:cNvSpPr txBox="1"/>
          <p:nvPr/>
        </p:nvSpPr>
        <p:spPr>
          <a:xfrm>
            <a:off x="1143000" y="1009498"/>
            <a:ext cx="9906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讨论重点：把“1对N / N对N”的关键关系画清楚，确定主键、外键、以及中间表（OrderItem）的设计口径</a:t>
            </a:r>
            <a:endParaRPr lang="en-US" sz="1000" dirty="0"/>
          </a:p>
        </p:txBody>
      </p:sp>
      <p:pic>
        <p:nvPicPr>
          <p:cNvPr id="57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-842" b="-842"/>
          <a:stretch/>
        </p:blipFill>
        <p:spPr>
          <a:xfrm>
            <a:off x="10458907" y="1669694"/>
            <a:ext cx="190195" cy="171907"/>
          </a:xfrm>
          <a:prstGeom prst="rect">
            <a:avLst/>
          </a:prstGeom>
        </p:spPr>
      </p:pic>
      <p:sp>
        <p:nvSpPr>
          <p:cNvPr id="58" name="Text 33"/>
          <p:cNvSpPr txBox="1"/>
          <p:nvPr/>
        </p:nvSpPr>
        <p:spPr>
          <a:xfrm>
            <a:off x="10705795" y="1580998"/>
            <a:ext cx="914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对齐点</a:t>
            </a:r>
            <a:endParaRPr lang="en-US" sz="1000" dirty="0"/>
          </a:p>
        </p:txBody>
      </p:sp>
      <p:sp>
        <p:nvSpPr>
          <p:cNvPr id="59" name="Text 34"/>
          <p:cNvSpPr txBox="1"/>
          <p:nvPr/>
        </p:nvSpPr>
        <p:spPr>
          <a:xfrm>
            <a:off x="10705795" y="1809598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数据模型</a:t>
            </a:r>
            <a:endParaRPr lang="en-US" sz="800" dirty="0"/>
          </a:p>
        </p:txBody>
      </p:sp>
      <p:sp>
        <p:nvSpPr>
          <p:cNvPr id="60" name="Text 35"/>
          <p:cNvSpPr txBox="1"/>
          <p:nvPr/>
        </p:nvSpPr>
        <p:spPr>
          <a:xfrm>
            <a:off x="10458907" y="2143354"/>
            <a:ext cx="1143000" cy="1705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1) Batch 的生成与拆分规则？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2) Inventory 的“可售口径”？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3) OrderItem 中间表字段？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4) QC/检测如何挂 Batch？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5) 主数据编码规则？ </a:t>
            </a:r>
            <a:endParaRPr lang="en-US" sz="900" dirty="0"/>
          </a:p>
        </p:txBody>
      </p:sp>
      <p:pic>
        <p:nvPicPr>
          <p:cNvPr id="61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10554005" y="5076749"/>
            <a:ext cx="152705" cy="152705"/>
          </a:xfrm>
          <a:prstGeom prst="rect">
            <a:avLst/>
          </a:prstGeom>
        </p:spPr>
      </p:pic>
      <p:sp>
        <p:nvSpPr>
          <p:cNvPr id="62" name="Text 36"/>
          <p:cNvSpPr txBox="1"/>
          <p:nvPr/>
        </p:nvSpPr>
        <p:spPr>
          <a:xfrm>
            <a:off x="10782605" y="4990795"/>
            <a:ext cx="762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记法</a:t>
            </a:r>
            <a:endParaRPr lang="en-US" sz="900" dirty="0"/>
          </a:p>
        </p:txBody>
      </p:sp>
      <p:sp>
        <p:nvSpPr>
          <p:cNvPr id="63" name="Text 37"/>
          <p:cNvSpPr txBox="1"/>
          <p:nvPr/>
        </p:nvSpPr>
        <p:spPr>
          <a:xfrm>
            <a:off x="10782605" y="5248656"/>
            <a:ext cx="7626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1 — N：主外键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 — N：中间表 </a:t>
            </a:r>
            <a:endParaRPr lang="en-US" sz="800" dirty="0"/>
          </a:p>
        </p:txBody>
      </p:sp>
      <p:pic>
        <p:nvPicPr>
          <p:cNvPr id="64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1619402" y="1781251"/>
            <a:ext cx="152705" cy="152705"/>
          </a:xfrm>
          <a:prstGeom prst="rect">
            <a:avLst/>
          </a:prstGeom>
        </p:spPr>
      </p:pic>
      <p:sp>
        <p:nvSpPr>
          <p:cNvPr id="65" name="Text 38"/>
          <p:cNvSpPr txBox="1"/>
          <p:nvPr/>
        </p:nvSpPr>
        <p:spPr>
          <a:xfrm>
            <a:off x="1848002" y="1695298"/>
            <a:ext cx="7810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重点实体：</a:t>
            </a:r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Plot</a:t>
            </a:r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（来源）、 </a:t>
            </a:r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Batch</a:t>
            </a:r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（全链路主键）、 </a:t>
            </a:r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Inventory</a:t>
            </a:r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（经营节点）、 </a:t>
            </a:r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Order</a:t>
            </a:r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（变现出口） </a:t>
            </a:r>
            <a:endParaRPr lang="en-US" sz="900" dirty="0"/>
          </a:p>
        </p:txBody>
      </p:sp>
      <p:pic>
        <p:nvPicPr>
          <p:cNvPr id="66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-100" b="-100"/>
          <a:stretch/>
        </p:blipFill>
        <p:spPr>
          <a:xfrm>
            <a:off x="1714500" y="2409444"/>
            <a:ext cx="114300" cy="152705"/>
          </a:xfrm>
          <a:prstGeom prst="rect">
            <a:avLst/>
          </a:prstGeom>
        </p:spPr>
      </p:pic>
      <p:sp>
        <p:nvSpPr>
          <p:cNvPr id="67" name="Text 39"/>
          <p:cNvSpPr txBox="1"/>
          <p:nvPr/>
        </p:nvSpPr>
        <p:spPr>
          <a:xfrm>
            <a:off x="1923898" y="2343607"/>
            <a:ext cx="14767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Plot</a:t>
            </a:r>
            <a:endParaRPr lang="en-US" sz="900" dirty="0"/>
          </a:p>
        </p:txBody>
      </p:sp>
      <p:sp>
        <p:nvSpPr>
          <p:cNvPr id="68" name="Text 40"/>
          <p:cNvSpPr txBox="1"/>
          <p:nvPr/>
        </p:nvSpPr>
        <p:spPr>
          <a:xfrm>
            <a:off x="1714500" y="2686507"/>
            <a:ext cx="1666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地块编号、面积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负责人（Plot Owner） </a:t>
            </a:r>
            <a:endParaRPr lang="en-US" sz="800" dirty="0"/>
          </a:p>
        </p:txBody>
      </p:sp>
      <p:pic>
        <p:nvPicPr>
          <p:cNvPr id="69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0" b="0"/>
          <a:stretch/>
        </p:blipFill>
        <p:spPr>
          <a:xfrm>
            <a:off x="4000500" y="2409444"/>
            <a:ext cx="152705" cy="152705"/>
          </a:xfrm>
          <a:prstGeom prst="rect">
            <a:avLst/>
          </a:prstGeom>
        </p:spPr>
      </p:pic>
      <p:sp>
        <p:nvSpPr>
          <p:cNvPr id="70" name="Text 41"/>
          <p:cNvSpPr txBox="1"/>
          <p:nvPr/>
        </p:nvSpPr>
        <p:spPr>
          <a:xfrm>
            <a:off x="4209898" y="2343607"/>
            <a:ext cx="16194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Crop</a:t>
            </a:r>
            <a:endParaRPr lang="en-US" sz="900" dirty="0"/>
          </a:p>
        </p:txBody>
      </p:sp>
      <p:sp>
        <p:nvSpPr>
          <p:cNvPr id="71" name="Text 42"/>
          <p:cNvSpPr txBox="1"/>
          <p:nvPr/>
        </p:nvSpPr>
        <p:spPr>
          <a:xfrm>
            <a:off x="4000500" y="2686507"/>
            <a:ext cx="1810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作物/品种（Variety）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标准字典 </a:t>
            </a:r>
            <a:endParaRPr lang="en-US" sz="800" dirty="0"/>
          </a:p>
        </p:txBody>
      </p:sp>
      <p:sp>
        <p:nvSpPr>
          <p:cNvPr id="72" name="Text 43"/>
          <p:cNvSpPr txBox="1"/>
          <p:nvPr/>
        </p:nvSpPr>
        <p:spPr>
          <a:xfrm>
            <a:off x="6409944" y="2238451"/>
            <a:ext cx="762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PRIMARY</a:t>
            </a:r>
            <a:endParaRPr lang="en-US" sz="800" dirty="0"/>
          </a:p>
        </p:txBody>
      </p:sp>
      <p:pic>
        <p:nvPicPr>
          <p:cNvPr id="73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0" b="0"/>
          <a:stretch/>
        </p:blipFill>
        <p:spPr>
          <a:xfrm>
            <a:off x="6495898" y="2391156"/>
            <a:ext cx="152705" cy="152705"/>
          </a:xfrm>
          <a:prstGeom prst="rect">
            <a:avLst/>
          </a:prstGeom>
        </p:spPr>
      </p:pic>
      <p:sp>
        <p:nvSpPr>
          <p:cNvPr id="74" name="Text 44"/>
          <p:cNvSpPr txBox="1"/>
          <p:nvPr/>
        </p:nvSpPr>
        <p:spPr>
          <a:xfrm>
            <a:off x="6705295" y="2324405"/>
            <a:ext cx="1810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Batch</a:t>
            </a:r>
            <a:endParaRPr lang="en-US" sz="1000" dirty="0"/>
          </a:p>
        </p:txBody>
      </p:sp>
      <p:sp>
        <p:nvSpPr>
          <p:cNvPr id="75" name="Text 45"/>
          <p:cNvSpPr txBox="1"/>
          <p:nvPr/>
        </p:nvSpPr>
        <p:spPr>
          <a:xfrm>
            <a:off x="6495898" y="2628900"/>
            <a:ext cx="20007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批次号（唯一）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来源：Plot/Crop/Harvest </a:t>
            </a:r>
            <a:endParaRPr lang="en-US" sz="800" dirty="0"/>
          </a:p>
        </p:txBody>
      </p:sp>
      <p:pic>
        <p:nvPicPr>
          <p:cNvPr id="76" name="Image 28" descr="preencoded.png">    </p:cNvPr>
          <p:cNvPicPr>
            <a:picLocks noChangeAspect="1"/>
          </p:cNvPicPr>
          <p:nvPr/>
        </p:nvPicPr>
        <p:blipFill>
          <a:blip r:embed="rId29"/>
          <a:srcRect l="0" r="0" t="-43" b="-43"/>
          <a:stretch/>
        </p:blipFill>
        <p:spPr>
          <a:xfrm>
            <a:off x="1714500" y="3857854"/>
            <a:ext cx="133502" cy="152705"/>
          </a:xfrm>
          <a:prstGeom prst="rect">
            <a:avLst/>
          </a:prstGeom>
        </p:spPr>
      </p:pic>
      <p:sp>
        <p:nvSpPr>
          <p:cNvPr id="77" name="Text 46"/>
          <p:cNvSpPr txBox="1"/>
          <p:nvPr/>
        </p:nvSpPr>
        <p:spPr>
          <a:xfrm>
            <a:off x="1923898" y="3791102"/>
            <a:ext cx="18105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Planting Plan</a:t>
            </a:r>
            <a:endParaRPr lang="en-US" sz="900" dirty="0"/>
          </a:p>
        </p:txBody>
      </p:sp>
      <p:sp>
        <p:nvSpPr>
          <p:cNvPr id="78" name="Text 47"/>
          <p:cNvSpPr txBox="1"/>
          <p:nvPr/>
        </p:nvSpPr>
        <p:spPr>
          <a:xfrm>
            <a:off x="1714500" y="4134002"/>
            <a:ext cx="20007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Plot + Crop 的计划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执行入口 </a:t>
            </a:r>
            <a:endParaRPr lang="en-US" sz="800" dirty="0"/>
          </a:p>
        </p:txBody>
      </p:sp>
      <p:pic>
        <p:nvPicPr>
          <p:cNvPr id="79" name="Image 29" descr="preencoded.png">    </p:cNvPr>
          <p:cNvPicPr>
            <a:picLocks noChangeAspect="1"/>
          </p:cNvPicPr>
          <p:nvPr/>
        </p:nvPicPr>
        <p:blipFill>
          <a:blip r:embed="rId30"/>
          <a:srcRect l="0" r="0" t="-100" b="-100"/>
          <a:stretch/>
        </p:blipFill>
        <p:spPr>
          <a:xfrm>
            <a:off x="4381805" y="3857854"/>
            <a:ext cx="114300" cy="152705"/>
          </a:xfrm>
          <a:prstGeom prst="rect">
            <a:avLst/>
          </a:prstGeom>
        </p:spPr>
      </p:pic>
      <p:sp>
        <p:nvSpPr>
          <p:cNvPr id="80" name="Text 48"/>
          <p:cNvSpPr txBox="1"/>
          <p:nvPr/>
        </p:nvSpPr>
        <p:spPr>
          <a:xfrm>
            <a:off x="4591202" y="3791102"/>
            <a:ext cx="1714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</a:t>
            </a:r>
            <a:endParaRPr lang="en-US" sz="900" dirty="0"/>
          </a:p>
        </p:txBody>
      </p:sp>
      <p:sp>
        <p:nvSpPr>
          <p:cNvPr id="81" name="Text 49"/>
          <p:cNvSpPr txBox="1"/>
          <p:nvPr/>
        </p:nvSpPr>
        <p:spPr>
          <a:xfrm>
            <a:off x="4381805" y="4134002"/>
            <a:ext cx="1905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农事记录（施肥/用药）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关联投入品（Input） </a:t>
            </a:r>
            <a:endParaRPr lang="en-US" sz="800" dirty="0"/>
          </a:p>
        </p:txBody>
      </p:sp>
      <p:pic>
        <p:nvPicPr>
          <p:cNvPr id="82" name="Image 30" descr="preencoded.png">    </p:cNvPr>
          <p:cNvPicPr>
            <a:picLocks noChangeAspect="1"/>
          </p:cNvPicPr>
          <p:nvPr/>
        </p:nvPicPr>
        <p:blipFill>
          <a:blip r:embed="rId31"/>
          <a:srcRect l="-33" r="-33" t="0" b="0"/>
          <a:stretch/>
        </p:blipFill>
        <p:spPr>
          <a:xfrm>
            <a:off x="6953098" y="3857854"/>
            <a:ext cx="171907" cy="152705"/>
          </a:xfrm>
          <a:prstGeom prst="rect">
            <a:avLst/>
          </a:prstGeom>
        </p:spPr>
      </p:pic>
      <p:sp>
        <p:nvSpPr>
          <p:cNvPr id="83" name="Text 50"/>
          <p:cNvSpPr txBox="1"/>
          <p:nvPr/>
        </p:nvSpPr>
        <p:spPr>
          <a:xfrm>
            <a:off x="7162495" y="3791102"/>
            <a:ext cx="2000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Grading / Packing</a:t>
            </a:r>
            <a:endParaRPr lang="en-US" sz="900" dirty="0"/>
          </a:p>
        </p:txBody>
      </p:sp>
      <p:sp>
        <p:nvSpPr>
          <p:cNvPr id="84" name="Text 51"/>
          <p:cNvSpPr txBox="1"/>
          <p:nvPr/>
        </p:nvSpPr>
        <p:spPr>
          <a:xfrm>
            <a:off x="6953098" y="4134002"/>
            <a:ext cx="21909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Batch → 分级结果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Batch → 包装规格/标签 </a:t>
            </a:r>
            <a:endParaRPr lang="en-US" sz="800" dirty="0"/>
          </a:p>
        </p:txBody>
      </p:sp>
      <p:pic>
        <p:nvPicPr>
          <p:cNvPr id="85" name="Image 31" descr="preencoded.png">    </p:cNvPr>
          <p:cNvPicPr>
            <a:picLocks noChangeAspect="1"/>
          </p:cNvPicPr>
          <p:nvPr/>
        </p:nvPicPr>
        <p:blipFill>
          <a:blip r:embed="rId32"/>
          <a:srcRect l="0" r="0" t="-180" b="-180"/>
          <a:stretch/>
        </p:blipFill>
        <p:spPr>
          <a:xfrm>
            <a:off x="2667305" y="5266944"/>
            <a:ext cx="190195" cy="152705"/>
          </a:xfrm>
          <a:prstGeom prst="rect">
            <a:avLst/>
          </a:prstGeom>
        </p:spPr>
      </p:pic>
      <p:sp>
        <p:nvSpPr>
          <p:cNvPr id="86" name="Text 52"/>
          <p:cNvSpPr txBox="1"/>
          <p:nvPr/>
        </p:nvSpPr>
        <p:spPr>
          <a:xfrm>
            <a:off x="2876702" y="5201107"/>
            <a:ext cx="2000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Inventory</a:t>
            </a:r>
            <a:endParaRPr lang="en-US" sz="1000" dirty="0"/>
          </a:p>
        </p:txBody>
      </p:sp>
      <p:sp>
        <p:nvSpPr>
          <p:cNvPr id="87" name="Text 53"/>
          <p:cNvSpPr txBox="1"/>
          <p:nvPr/>
        </p:nvSpPr>
        <p:spPr>
          <a:xfrm>
            <a:off x="2667305" y="5505602"/>
            <a:ext cx="22384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可售库存（SKU/规格）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 Batch 可追溯关联 </a:t>
            </a:r>
            <a:endParaRPr lang="en-US" sz="800" dirty="0"/>
          </a:p>
        </p:txBody>
      </p:sp>
      <p:pic>
        <p:nvPicPr>
          <p:cNvPr id="88" name="Image 32" descr="preencoded.png">    </p:cNvPr>
          <p:cNvPicPr>
            <a:picLocks noChangeAspect="1"/>
          </p:cNvPicPr>
          <p:nvPr/>
        </p:nvPicPr>
        <p:blipFill>
          <a:blip r:embed="rId33"/>
          <a:srcRect l="0" r="0" t="-100" b="-100"/>
          <a:stretch/>
        </p:blipFill>
        <p:spPr>
          <a:xfrm>
            <a:off x="5715000" y="5266944"/>
            <a:ext cx="114300" cy="152705"/>
          </a:xfrm>
          <a:prstGeom prst="rect">
            <a:avLst/>
          </a:prstGeom>
        </p:spPr>
      </p:pic>
      <p:sp>
        <p:nvSpPr>
          <p:cNvPr id="89" name="Text 54"/>
          <p:cNvSpPr txBox="1"/>
          <p:nvPr/>
        </p:nvSpPr>
        <p:spPr>
          <a:xfrm>
            <a:off x="5924398" y="5201107"/>
            <a:ext cx="18105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Order</a:t>
            </a:r>
            <a:endParaRPr lang="en-US" sz="900" dirty="0"/>
          </a:p>
        </p:txBody>
      </p:sp>
      <p:sp>
        <p:nvSpPr>
          <p:cNvPr id="90" name="Text 55"/>
          <p:cNvSpPr txBox="1"/>
          <p:nvPr/>
        </p:nvSpPr>
        <p:spPr>
          <a:xfrm>
            <a:off x="5715000" y="5505602"/>
            <a:ext cx="1953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客户订单与状态机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关联 OrderItem </a:t>
            </a:r>
            <a:endParaRPr lang="en-US" sz="800" dirty="0"/>
          </a:p>
        </p:txBody>
      </p:sp>
      <p:pic>
        <p:nvPicPr>
          <p:cNvPr id="91" name="Image 33" descr="preencoded.png">    </p:cNvPr>
          <p:cNvPicPr>
            <a:picLocks noChangeAspect="1"/>
          </p:cNvPicPr>
          <p:nvPr/>
        </p:nvPicPr>
        <p:blipFill>
          <a:blip r:embed="rId34"/>
          <a:srcRect l="0" r="0" t="0" b="0"/>
          <a:stretch/>
        </p:blipFill>
        <p:spPr>
          <a:xfrm>
            <a:off x="8191195" y="5266944"/>
            <a:ext cx="152705" cy="152705"/>
          </a:xfrm>
          <a:prstGeom prst="rect">
            <a:avLst/>
          </a:prstGeom>
        </p:spPr>
      </p:pic>
      <p:sp>
        <p:nvSpPr>
          <p:cNvPr id="92" name="Text 56"/>
          <p:cNvSpPr txBox="1"/>
          <p:nvPr/>
        </p:nvSpPr>
        <p:spPr>
          <a:xfrm>
            <a:off x="8401507" y="5201107"/>
            <a:ext cx="12390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OrderItem</a:t>
            </a:r>
            <a:endParaRPr lang="en-US" sz="900" dirty="0"/>
          </a:p>
        </p:txBody>
      </p:sp>
      <p:sp>
        <p:nvSpPr>
          <p:cNvPr id="93" name="Text 57"/>
          <p:cNvSpPr txBox="1"/>
          <p:nvPr/>
        </p:nvSpPr>
        <p:spPr>
          <a:xfrm>
            <a:off x="8191195" y="5505602"/>
            <a:ext cx="14292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N—N 中间表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Order × Inventory </a:t>
            </a:r>
            <a:endParaRPr lang="en-US" sz="800" dirty="0"/>
          </a:p>
        </p:txBody>
      </p:sp>
      <p:sp>
        <p:nvSpPr>
          <p:cNvPr id="94" name="Text 58"/>
          <p:cNvSpPr txBox="1"/>
          <p:nvPr/>
        </p:nvSpPr>
        <p:spPr>
          <a:xfrm>
            <a:off x="1828800" y="3314700"/>
            <a:ext cx="14292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— N</a:t>
            </a:r>
            <a:endParaRPr lang="en-US" sz="800" dirty="0"/>
          </a:p>
        </p:txBody>
      </p:sp>
      <p:sp>
        <p:nvSpPr>
          <p:cNvPr id="95" name="Text 59"/>
          <p:cNvSpPr txBox="1"/>
          <p:nvPr/>
        </p:nvSpPr>
        <p:spPr>
          <a:xfrm>
            <a:off x="4304995" y="3314700"/>
            <a:ext cx="14292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— N</a:t>
            </a:r>
            <a:endParaRPr lang="en-US" sz="800" dirty="0"/>
          </a:p>
        </p:txBody>
      </p:sp>
      <p:sp>
        <p:nvSpPr>
          <p:cNvPr id="96" name="Text 60"/>
          <p:cNvSpPr txBox="1"/>
          <p:nvPr/>
        </p:nvSpPr>
        <p:spPr>
          <a:xfrm>
            <a:off x="3715207" y="3866998"/>
            <a:ext cx="1143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— N</a:t>
            </a:r>
            <a:endParaRPr lang="en-US" sz="800" dirty="0"/>
          </a:p>
        </p:txBody>
      </p:sp>
      <p:sp>
        <p:nvSpPr>
          <p:cNvPr id="97" name="Text 61"/>
          <p:cNvSpPr txBox="1"/>
          <p:nvPr/>
        </p:nvSpPr>
        <p:spPr>
          <a:xfrm>
            <a:off x="4334256" y="2686507"/>
            <a:ext cx="1524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— N</a:t>
            </a:r>
            <a:endParaRPr lang="en-US" sz="800" dirty="0"/>
          </a:p>
        </p:txBody>
      </p:sp>
      <p:sp>
        <p:nvSpPr>
          <p:cNvPr id="98" name="Text 62"/>
          <p:cNvSpPr txBox="1"/>
          <p:nvPr/>
        </p:nvSpPr>
        <p:spPr>
          <a:xfrm>
            <a:off x="5695798" y="2572207"/>
            <a:ext cx="1143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— N</a:t>
            </a:r>
            <a:endParaRPr lang="en-US" sz="800" dirty="0"/>
          </a:p>
        </p:txBody>
      </p:sp>
      <p:sp>
        <p:nvSpPr>
          <p:cNvPr id="99" name="Text 63"/>
          <p:cNvSpPr txBox="1"/>
          <p:nvPr/>
        </p:nvSpPr>
        <p:spPr>
          <a:xfrm>
            <a:off x="7619695" y="3372307"/>
            <a:ext cx="1143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— N</a:t>
            </a:r>
            <a:endParaRPr lang="en-US" sz="800" dirty="0"/>
          </a:p>
        </p:txBody>
      </p:sp>
      <p:sp>
        <p:nvSpPr>
          <p:cNvPr id="100" name="Text 64"/>
          <p:cNvSpPr txBox="1"/>
          <p:nvPr/>
        </p:nvSpPr>
        <p:spPr>
          <a:xfrm>
            <a:off x="5810098" y="4343400"/>
            <a:ext cx="1143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— N</a:t>
            </a:r>
            <a:endParaRPr lang="en-US" sz="800" dirty="0"/>
          </a:p>
        </p:txBody>
      </p:sp>
      <p:sp>
        <p:nvSpPr>
          <p:cNvPr id="101" name="Text 65"/>
          <p:cNvSpPr txBox="1"/>
          <p:nvPr/>
        </p:nvSpPr>
        <p:spPr>
          <a:xfrm>
            <a:off x="5162702" y="5352898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Inventory 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 — N</a:t>
            </a:r>
            <a:pPr algn="ctr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Order（通过 OrderItem） </a:t>
            </a:r>
            <a:endParaRPr lang="en-US" sz="800" dirty="0"/>
          </a:p>
        </p:txBody>
      </p:sp>
      <p:pic>
        <p:nvPicPr>
          <p:cNvPr id="102" name="Image 34" descr="preencoded.png">    </p:cNvPr>
          <p:cNvPicPr>
            <a:picLocks noChangeAspect="1"/>
          </p:cNvPicPr>
          <p:nvPr/>
        </p:nvPicPr>
        <p:blipFill>
          <a:blip r:embed="rId35"/>
          <a:srcRect l="0" r="0" t="0" b="0"/>
          <a:stretch/>
        </p:blipFill>
        <p:spPr>
          <a:xfrm>
            <a:off x="8820302" y="2505456"/>
            <a:ext cx="152705" cy="152705"/>
          </a:xfrm>
          <a:prstGeom prst="rect">
            <a:avLst/>
          </a:prstGeom>
        </p:spPr>
      </p:pic>
      <p:sp>
        <p:nvSpPr>
          <p:cNvPr id="103" name="Text 66"/>
          <p:cNvSpPr txBox="1"/>
          <p:nvPr/>
        </p:nvSpPr>
        <p:spPr>
          <a:xfrm>
            <a:off x="9029700" y="2419502"/>
            <a:ext cx="7050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QC</a:t>
            </a:r>
            <a:endParaRPr lang="en-US" sz="900" dirty="0"/>
          </a:p>
        </p:txBody>
      </p:sp>
      <p:sp>
        <p:nvSpPr>
          <p:cNvPr id="104" name="Text 67"/>
          <p:cNvSpPr txBox="1"/>
          <p:nvPr/>
        </p:nvSpPr>
        <p:spPr>
          <a:xfrm>
            <a:off x="8820302" y="2667305"/>
            <a:ext cx="9336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Batch 1—N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QC / Residue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38505"/>
            <a:ext cx="875995" cy="6019495"/>
          </a:xfrm>
          <a:prstGeom prst="rect">
            <a:avLst/>
          </a:prstGeom>
          <a:solidFill>
            <a:srgbClr val="0F6C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429207"/>
            <a:ext cx="8973007" cy="5067605"/>
          </a:xfrm>
          <a:prstGeom prst="roundRect">
            <a:avLst>
              <a:gd name="adj" fmla="val 1221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1429207"/>
            <a:ext cx="1447495" cy="5067605"/>
          </a:xfrm>
          <a:prstGeom prst="roundRect">
            <a:avLst>
              <a:gd name="adj" fmla="val 14962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10287000" y="1429207"/>
            <a:ext cx="1429207" cy="5907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401300" y="5143500"/>
            <a:ext cx="1200607" cy="1162202"/>
          </a:xfrm>
          <a:prstGeom prst="roundRect">
            <a:avLst>
              <a:gd name="adj" fmla="val 18057"/>
            </a:avLst>
          </a:prstGeom>
          <a:solidFill>
            <a:srgbClr val="0B2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29207" y="1619402"/>
            <a:ext cx="8401507" cy="437998"/>
          </a:xfrm>
          <a:prstGeom prst="roundRect">
            <a:avLst>
              <a:gd name="adj" fmla="val 127076"/>
            </a:avLst>
          </a:prstGeom>
          <a:solidFill>
            <a:srgbClr val="EEF6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29207" y="2143354"/>
            <a:ext cx="8401507" cy="4114800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19402" y="2333549"/>
            <a:ext cx="8020202" cy="514807"/>
          </a:xfrm>
          <a:prstGeom prst="roundRect">
            <a:avLst>
              <a:gd name="adj" fmla="val 78942"/>
            </a:avLst>
          </a:prstGeom>
          <a:solidFill>
            <a:srgbClr val="F6F9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31" b="-31"/>
          <a:stretch/>
        </p:blipFill>
        <p:spPr>
          <a:xfrm>
            <a:off x="1619402" y="2333549"/>
            <a:ext cx="2286000" cy="49560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905402" y="2333549"/>
            <a:ext cx="952805" cy="4956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58207" y="2333549"/>
            <a:ext cx="1047902" cy="4956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905195" y="2333549"/>
            <a:ext cx="1047902" cy="4956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953098" y="2333549"/>
            <a:ext cx="1047902" cy="4956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01000" y="2333549"/>
            <a:ext cx="1047902" cy="4956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31" b="-31"/>
          <a:stretch/>
        </p:blipFill>
        <p:spPr>
          <a:xfrm>
            <a:off x="9048902" y="2333549"/>
            <a:ext cx="571500" cy="49560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619402" y="2924251"/>
            <a:ext cx="8020202" cy="629107"/>
          </a:xfrm>
          <a:prstGeom prst="roundRect">
            <a:avLst>
              <a:gd name="adj" fmla="val 52854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25" b="-25"/>
          <a:stretch/>
        </p:blipFill>
        <p:spPr>
          <a:xfrm>
            <a:off x="1619402" y="2924251"/>
            <a:ext cx="2286000" cy="609905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3972154" y="3086100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EAF3FF"/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972507" y="3086100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019495" y="3086100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067398" y="3086100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115300" y="3086100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191549" y="3086100"/>
            <a:ext cx="304495" cy="30449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619402" y="3600907"/>
            <a:ext cx="8020202" cy="629107"/>
          </a:xfrm>
          <a:prstGeom prst="roundRect">
            <a:avLst>
              <a:gd name="adj" fmla="val 52854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25" b="-25"/>
          <a:stretch/>
        </p:blipFill>
        <p:spPr>
          <a:xfrm>
            <a:off x="1619402" y="3600907"/>
            <a:ext cx="2286000" cy="60990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3972154" y="3762756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EAF3FF"/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972507" y="3762756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EAF3FF"/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019495" y="3762756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7067398" y="3762756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115300" y="3762756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9191549" y="3762756"/>
            <a:ext cx="304495" cy="30449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1619402" y="4276649"/>
            <a:ext cx="8020202" cy="629107"/>
          </a:xfrm>
          <a:prstGeom prst="roundRect">
            <a:avLst>
              <a:gd name="adj" fmla="val 52854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25" b="-25"/>
          <a:stretch/>
        </p:blipFill>
        <p:spPr>
          <a:xfrm>
            <a:off x="1619402" y="4276649"/>
            <a:ext cx="2286000" cy="609905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3972154" y="4438498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4972507" y="4438498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EAF3FF"/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6019495" y="4438498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EAF3FF"/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7067398" y="4438498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8115300" y="4438498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9191549" y="4438498"/>
            <a:ext cx="304495" cy="30449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1619402" y="4953305"/>
            <a:ext cx="8020202" cy="629107"/>
          </a:xfrm>
          <a:prstGeom prst="roundRect">
            <a:avLst>
              <a:gd name="adj" fmla="val 52854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25" b="-25"/>
          <a:stretch/>
        </p:blipFill>
        <p:spPr>
          <a:xfrm>
            <a:off x="1619402" y="4953305"/>
            <a:ext cx="2286000" cy="609905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3972154" y="5115154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4972507" y="5115154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6019495" y="5115154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EAF3FF"/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7067398" y="5115154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EAF3FF"/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8115300" y="5115154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EAF3FF"/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9191549" y="5115154"/>
            <a:ext cx="304495" cy="30449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1619402" y="5629046"/>
            <a:ext cx="8020202" cy="629107"/>
          </a:xfrm>
          <a:prstGeom prst="roundRect">
            <a:avLst>
              <a:gd name="adj" fmla="val 52854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25" b="-25"/>
          <a:stretch/>
        </p:blipFill>
        <p:spPr>
          <a:xfrm>
            <a:off x="1619402" y="5629046"/>
            <a:ext cx="2286000" cy="609905"/>
          </a:xfrm>
          <a:prstGeom prst="rect">
            <a:avLst/>
          </a:prstGeom>
        </p:spPr>
      </p:pic>
      <p:sp>
        <p:nvSpPr>
          <p:cNvPr id="55" name="Shape 45"/>
          <p:cNvSpPr/>
          <p:nvPr/>
        </p:nvSpPr>
        <p:spPr>
          <a:xfrm>
            <a:off x="3972154" y="5790895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EAF3FF"/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4972507" y="5790895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EAF3FF"/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7" name="Shape 47"/>
          <p:cNvSpPr/>
          <p:nvPr/>
        </p:nvSpPr>
        <p:spPr>
          <a:xfrm>
            <a:off x="6019495" y="5790895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EAF3FF"/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8" name="Shape 48"/>
          <p:cNvSpPr/>
          <p:nvPr/>
        </p:nvSpPr>
        <p:spPr>
          <a:xfrm>
            <a:off x="7067398" y="5790895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EAF3FF"/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9" name="Shape 49"/>
          <p:cNvSpPr/>
          <p:nvPr/>
        </p:nvSpPr>
        <p:spPr>
          <a:xfrm>
            <a:off x="8115300" y="5790895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EAF3FF"/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60" name="Shape 50"/>
          <p:cNvSpPr/>
          <p:nvPr/>
        </p:nvSpPr>
        <p:spPr>
          <a:xfrm>
            <a:off x="9191549" y="5790895"/>
            <a:ext cx="286207" cy="286207"/>
          </a:xfrm>
          <a:prstGeom prst="ellipse">
            <a:avLst/>
          </a:prstGeom>
          <a:solidFill>
            <a:srgbClr val="0B2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1"/>
          <p:cNvSpPr/>
          <p:nvPr/>
        </p:nvSpPr>
        <p:spPr>
          <a:xfrm>
            <a:off x="1619402" y="6305702"/>
            <a:ext cx="2686507" cy="418795"/>
          </a:xfrm>
          <a:prstGeom prst="roundRect">
            <a:avLst>
              <a:gd name="adj" fmla="val 119095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62" name="Shape 52"/>
          <p:cNvSpPr/>
          <p:nvPr/>
        </p:nvSpPr>
        <p:spPr>
          <a:xfrm>
            <a:off x="1752905" y="6400800"/>
            <a:ext cx="171907" cy="171907"/>
          </a:xfrm>
          <a:prstGeom prst="roundRect">
            <a:avLst>
              <a:gd name="adj" fmla="val 236407"/>
            </a:avLst>
          </a:prstGeom>
          <a:solidFill>
            <a:srgbClr val="EAF3FF"/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4381805" y="6305702"/>
            <a:ext cx="2495398" cy="418795"/>
          </a:xfrm>
          <a:prstGeom prst="roundRect">
            <a:avLst>
              <a:gd name="adj" fmla="val 119095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64" name="Shape 54"/>
          <p:cNvSpPr/>
          <p:nvPr/>
        </p:nvSpPr>
        <p:spPr>
          <a:xfrm>
            <a:off x="4515307" y="6400800"/>
            <a:ext cx="171907" cy="171907"/>
          </a:xfrm>
          <a:prstGeom prst="roundRect">
            <a:avLst>
              <a:gd name="adj" fmla="val 236407"/>
            </a:avLst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65" name="Shape 55"/>
          <p:cNvSpPr/>
          <p:nvPr/>
        </p:nvSpPr>
        <p:spPr>
          <a:xfrm>
            <a:off x="6953098" y="6305702"/>
            <a:ext cx="2667305" cy="400507"/>
          </a:xfrm>
          <a:prstGeom prst="roundRect">
            <a:avLst>
              <a:gd name="adj" fmla="val 130463"/>
            </a:avLst>
          </a:prstGeom>
          <a:solidFill>
            <a:srgbClr val="0B2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56"/>
          <p:cNvSpPr txBox="1"/>
          <p:nvPr/>
        </p:nvSpPr>
        <p:spPr>
          <a:xfrm>
            <a:off x="1143000" y="171907"/>
            <a:ext cx="9906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权限架构设计（按角色分权）</a:t>
            </a:r>
            <a:endParaRPr lang="en-US" sz="1500" dirty="0"/>
          </a:p>
        </p:txBody>
      </p:sp>
      <p:sp>
        <p:nvSpPr>
          <p:cNvPr id="67" name="Text 57"/>
          <p:cNvSpPr txBox="1"/>
          <p:nvPr/>
        </p:nvSpPr>
        <p:spPr>
          <a:xfrm>
            <a:off x="1143000" y="504749"/>
            <a:ext cx="9906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" kern="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Access Control · Role-based Permissions</a:t>
            </a:r>
            <a:endParaRPr lang="en-US" sz="900" dirty="0"/>
          </a:p>
        </p:txBody>
      </p:sp>
      <p:sp>
        <p:nvSpPr>
          <p:cNvPr id="68" name="Text 58"/>
          <p:cNvSpPr txBox="1"/>
          <p:nvPr/>
        </p:nvSpPr>
        <p:spPr>
          <a:xfrm>
            <a:off x="1143000" y="1009498"/>
            <a:ext cx="9906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讨论重点：以“最小可用权限”覆盖一线作业与经营闭环；关键记录（批次、库存、出库）必须可追责</a:t>
            </a:r>
            <a:endParaRPr lang="en-US" sz="1000" dirty="0"/>
          </a:p>
        </p:txBody>
      </p:sp>
      <p:pic>
        <p:nvPicPr>
          <p:cNvPr id="69" name="Image 8" descr="preencoded.png">    </p:cNvPr>
          <p:cNvPicPr>
            <a:picLocks noChangeAspect="1"/>
          </p:cNvPicPr>
          <p:nvPr/>
        </p:nvPicPr>
        <p:blipFill>
          <a:blip r:embed="rId9"/>
          <a:srcRect l="-1064" r="-1064" t="0" b="0"/>
          <a:stretch/>
        </p:blipFill>
        <p:spPr>
          <a:xfrm>
            <a:off x="10458907" y="1669694"/>
            <a:ext cx="219456" cy="171907"/>
          </a:xfrm>
          <a:prstGeom prst="rect">
            <a:avLst/>
          </a:prstGeom>
        </p:spPr>
      </p:pic>
      <p:sp>
        <p:nvSpPr>
          <p:cNvPr id="70" name="Text 59"/>
          <p:cNvSpPr txBox="1"/>
          <p:nvPr/>
        </p:nvSpPr>
        <p:spPr>
          <a:xfrm>
            <a:off x="10705795" y="1580998"/>
            <a:ext cx="914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对齐点</a:t>
            </a:r>
            <a:endParaRPr lang="en-US" sz="1000" dirty="0"/>
          </a:p>
        </p:txBody>
      </p:sp>
      <p:sp>
        <p:nvSpPr>
          <p:cNvPr id="71" name="Text 60"/>
          <p:cNvSpPr txBox="1"/>
          <p:nvPr/>
        </p:nvSpPr>
        <p:spPr>
          <a:xfrm>
            <a:off x="10705795" y="1809598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权限边界</a:t>
            </a:r>
            <a:endParaRPr lang="en-US" sz="800" dirty="0"/>
          </a:p>
        </p:txBody>
      </p:sp>
      <p:sp>
        <p:nvSpPr>
          <p:cNvPr id="72" name="Text 61"/>
          <p:cNvSpPr txBox="1"/>
          <p:nvPr/>
        </p:nvSpPr>
        <p:spPr>
          <a:xfrm>
            <a:off x="10458907" y="2143354"/>
            <a:ext cx="1143000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1) 谁能维护主数据？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2) 谁能审核关键记录？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3) 谁能改库存口径？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4) 出库/退货谁批准？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5) 客诉与追溯谁可见？ </a:t>
            </a:r>
            <a:endParaRPr lang="en-US" sz="900" dirty="0"/>
          </a:p>
        </p:txBody>
      </p:sp>
      <p:pic>
        <p:nvPicPr>
          <p:cNvPr id="7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3" b="-43"/>
          <a:stretch/>
        </p:blipFill>
        <p:spPr>
          <a:xfrm>
            <a:off x="10554005" y="5362956"/>
            <a:ext cx="133502" cy="152705"/>
          </a:xfrm>
          <a:prstGeom prst="rect">
            <a:avLst/>
          </a:prstGeom>
        </p:spPr>
      </p:pic>
      <p:sp>
        <p:nvSpPr>
          <p:cNvPr id="74" name="Text 62"/>
          <p:cNvSpPr txBox="1"/>
          <p:nvPr/>
        </p:nvSpPr>
        <p:spPr>
          <a:xfrm>
            <a:off x="10782605" y="5277002"/>
            <a:ext cx="762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原则</a:t>
            </a:r>
            <a:endParaRPr lang="en-US" sz="900" dirty="0"/>
          </a:p>
        </p:txBody>
      </p:sp>
      <p:sp>
        <p:nvSpPr>
          <p:cNvPr id="75" name="Text 63"/>
          <p:cNvSpPr txBox="1"/>
          <p:nvPr/>
        </p:nvSpPr>
        <p:spPr>
          <a:xfrm>
            <a:off x="10782605" y="5514746"/>
            <a:ext cx="7626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最小权限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可追责 </a:t>
            </a:r>
            <a:endParaRPr lang="en-US" sz="800" dirty="0"/>
          </a:p>
        </p:txBody>
      </p:sp>
      <p:pic>
        <p:nvPicPr>
          <p:cNvPr id="76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619402" y="1781251"/>
            <a:ext cx="152705" cy="152705"/>
          </a:xfrm>
          <a:prstGeom prst="rect">
            <a:avLst/>
          </a:prstGeom>
        </p:spPr>
      </p:pic>
      <p:sp>
        <p:nvSpPr>
          <p:cNvPr id="77" name="Text 64"/>
          <p:cNvSpPr txBox="1"/>
          <p:nvPr/>
        </p:nvSpPr>
        <p:spPr>
          <a:xfrm>
            <a:off x="1848002" y="1695298"/>
            <a:ext cx="7810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权限矩阵（示意）：按角色定义“可查看/可创建/可审核/可调整”的范围；关键对象：</a:t>
            </a:r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Batch</a:t>
            </a:r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Inventory</a:t>
            </a:r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Order</a:t>
            </a:r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QC</a:t>
            </a:r>
            <a:endParaRPr lang="en-US" sz="900" dirty="0"/>
          </a:p>
        </p:txBody>
      </p:sp>
      <p:sp>
        <p:nvSpPr>
          <p:cNvPr id="78" name="Text 65"/>
          <p:cNvSpPr txBox="1"/>
          <p:nvPr/>
        </p:nvSpPr>
        <p:spPr>
          <a:xfrm>
            <a:off x="1752905" y="2467051"/>
            <a:ext cx="2000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</a:t>
            </a:r>
            <a:endParaRPr lang="en-US" sz="900" dirty="0"/>
          </a:p>
        </p:txBody>
      </p:sp>
      <p:sp>
        <p:nvSpPr>
          <p:cNvPr id="79" name="Text 66"/>
          <p:cNvSpPr txBox="1"/>
          <p:nvPr/>
        </p:nvSpPr>
        <p:spPr>
          <a:xfrm>
            <a:off x="3905402" y="2447849"/>
            <a:ext cx="95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任务/农事</a:t>
            </a:r>
            <a:endParaRPr lang="en-US" sz="900" dirty="0"/>
          </a:p>
        </p:txBody>
      </p:sp>
      <p:sp>
        <p:nvSpPr>
          <p:cNvPr id="80" name="Text 67"/>
          <p:cNvSpPr txBox="1"/>
          <p:nvPr/>
        </p:nvSpPr>
        <p:spPr>
          <a:xfrm>
            <a:off x="3905402" y="2628900"/>
            <a:ext cx="952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</a:t>
            </a:r>
            <a:endParaRPr lang="en-US" sz="800" dirty="0"/>
          </a:p>
        </p:txBody>
      </p:sp>
      <p:sp>
        <p:nvSpPr>
          <p:cNvPr id="81" name="Text 68"/>
          <p:cNvSpPr txBox="1"/>
          <p:nvPr/>
        </p:nvSpPr>
        <p:spPr>
          <a:xfrm>
            <a:off x="4858207" y="2447849"/>
            <a:ext cx="10479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采收/批次</a:t>
            </a:r>
            <a:endParaRPr lang="en-US" sz="900" dirty="0"/>
          </a:p>
        </p:txBody>
      </p:sp>
      <p:sp>
        <p:nvSpPr>
          <p:cNvPr id="82" name="Text 69"/>
          <p:cNvSpPr txBox="1"/>
          <p:nvPr/>
        </p:nvSpPr>
        <p:spPr>
          <a:xfrm>
            <a:off x="4858207" y="2628900"/>
            <a:ext cx="10479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Harvest/Batch</a:t>
            </a:r>
            <a:endParaRPr lang="en-US" sz="800" dirty="0"/>
          </a:p>
        </p:txBody>
      </p:sp>
      <p:sp>
        <p:nvSpPr>
          <p:cNvPr id="83" name="Text 70"/>
          <p:cNvSpPr txBox="1"/>
          <p:nvPr/>
        </p:nvSpPr>
        <p:spPr>
          <a:xfrm>
            <a:off x="5905195" y="2447849"/>
            <a:ext cx="10479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包装/库存</a:t>
            </a:r>
            <a:endParaRPr lang="en-US" sz="900" dirty="0"/>
          </a:p>
        </p:txBody>
      </p:sp>
      <p:sp>
        <p:nvSpPr>
          <p:cNvPr id="84" name="Text 71"/>
          <p:cNvSpPr txBox="1"/>
          <p:nvPr/>
        </p:nvSpPr>
        <p:spPr>
          <a:xfrm>
            <a:off x="5905195" y="2628900"/>
            <a:ext cx="10479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Inventory</a:t>
            </a:r>
            <a:endParaRPr lang="en-US" sz="800" dirty="0"/>
          </a:p>
        </p:txBody>
      </p:sp>
      <p:sp>
        <p:nvSpPr>
          <p:cNvPr id="85" name="Text 72"/>
          <p:cNvSpPr txBox="1"/>
          <p:nvPr/>
        </p:nvSpPr>
        <p:spPr>
          <a:xfrm>
            <a:off x="6953098" y="2447849"/>
            <a:ext cx="10479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客户/订单</a:t>
            </a:r>
            <a:endParaRPr lang="en-US" sz="900" dirty="0"/>
          </a:p>
        </p:txBody>
      </p:sp>
      <p:sp>
        <p:nvSpPr>
          <p:cNvPr id="86" name="Text 73"/>
          <p:cNvSpPr txBox="1"/>
          <p:nvPr/>
        </p:nvSpPr>
        <p:spPr>
          <a:xfrm>
            <a:off x="6953098" y="2628900"/>
            <a:ext cx="10479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Order</a:t>
            </a:r>
            <a:endParaRPr lang="en-US" sz="800" dirty="0"/>
          </a:p>
        </p:txBody>
      </p:sp>
      <p:sp>
        <p:nvSpPr>
          <p:cNvPr id="87" name="Text 74"/>
          <p:cNvSpPr txBox="1"/>
          <p:nvPr/>
        </p:nvSpPr>
        <p:spPr>
          <a:xfrm>
            <a:off x="8001000" y="2447849"/>
            <a:ext cx="10479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质量/追溯</a:t>
            </a:r>
            <a:endParaRPr lang="en-US" sz="900" dirty="0"/>
          </a:p>
        </p:txBody>
      </p:sp>
      <p:sp>
        <p:nvSpPr>
          <p:cNvPr id="88" name="Text 75"/>
          <p:cNvSpPr txBox="1"/>
          <p:nvPr/>
        </p:nvSpPr>
        <p:spPr>
          <a:xfrm>
            <a:off x="8001000" y="2628900"/>
            <a:ext cx="10479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QC</a:t>
            </a:r>
            <a:endParaRPr lang="en-US" sz="800" dirty="0"/>
          </a:p>
        </p:txBody>
      </p:sp>
      <p:sp>
        <p:nvSpPr>
          <p:cNvPr id="89" name="Text 76"/>
          <p:cNvSpPr txBox="1"/>
          <p:nvPr/>
        </p:nvSpPr>
        <p:spPr>
          <a:xfrm>
            <a:off x="9048902" y="2447849"/>
            <a:ext cx="571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配置</a:t>
            </a:r>
            <a:endParaRPr lang="en-US" sz="900" dirty="0"/>
          </a:p>
        </p:txBody>
      </p:sp>
      <p:sp>
        <p:nvSpPr>
          <p:cNvPr id="90" name="Text 77"/>
          <p:cNvSpPr txBox="1"/>
          <p:nvPr/>
        </p:nvSpPr>
        <p:spPr>
          <a:xfrm>
            <a:off x="9048902" y="2628900"/>
            <a:ext cx="571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Admin</a:t>
            </a:r>
            <a:endParaRPr lang="en-US" sz="800" dirty="0"/>
          </a:p>
        </p:txBody>
      </p:sp>
      <p:pic>
        <p:nvPicPr>
          <p:cNvPr id="91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842" b="-842"/>
          <a:stretch/>
        </p:blipFill>
        <p:spPr>
          <a:xfrm>
            <a:off x="1790395" y="3155594"/>
            <a:ext cx="190195" cy="171907"/>
          </a:xfrm>
          <a:prstGeom prst="rect">
            <a:avLst/>
          </a:prstGeom>
        </p:spPr>
      </p:pic>
      <p:sp>
        <p:nvSpPr>
          <p:cNvPr id="92" name="Text 78"/>
          <p:cNvSpPr txBox="1"/>
          <p:nvPr/>
        </p:nvSpPr>
        <p:spPr>
          <a:xfrm>
            <a:off x="2057400" y="3047695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农场工人</a:t>
            </a:r>
            <a:endParaRPr lang="en-US" sz="1000" dirty="0"/>
          </a:p>
        </p:txBody>
      </p:sp>
      <p:sp>
        <p:nvSpPr>
          <p:cNvPr id="93" name="Text 79"/>
          <p:cNvSpPr txBox="1"/>
          <p:nvPr/>
        </p:nvSpPr>
        <p:spPr>
          <a:xfrm>
            <a:off x="2057400" y="3267151"/>
            <a:ext cx="1714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查看任务 · 填报记录</a:t>
            </a:r>
            <a:endParaRPr lang="en-US" sz="800" dirty="0"/>
          </a:p>
        </p:txBody>
      </p:sp>
      <p:sp>
        <p:nvSpPr>
          <p:cNvPr id="94" name="Text 80"/>
          <p:cNvSpPr txBox="1"/>
          <p:nvPr/>
        </p:nvSpPr>
        <p:spPr>
          <a:xfrm>
            <a:off x="3972154" y="3133649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创建/提交</a:t>
            </a:r>
            <a:endParaRPr lang="en-US" sz="800" dirty="0"/>
          </a:p>
        </p:txBody>
      </p:sp>
      <p:sp>
        <p:nvSpPr>
          <p:cNvPr id="95" name="Text 81"/>
          <p:cNvSpPr txBox="1"/>
          <p:nvPr/>
        </p:nvSpPr>
        <p:spPr>
          <a:xfrm>
            <a:off x="4972507" y="3133649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仅查看</a:t>
            </a:r>
            <a:endParaRPr lang="en-US" sz="800" dirty="0"/>
          </a:p>
        </p:txBody>
      </p:sp>
      <p:sp>
        <p:nvSpPr>
          <p:cNvPr id="96" name="Text 82"/>
          <p:cNvSpPr txBox="1"/>
          <p:nvPr/>
        </p:nvSpPr>
        <p:spPr>
          <a:xfrm>
            <a:off x="6019495" y="3133649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</a:t>
            </a:r>
            <a:endParaRPr lang="en-US" sz="800" dirty="0"/>
          </a:p>
        </p:txBody>
      </p:sp>
      <p:sp>
        <p:nvSpPr>
          <p:cNvPr id="97" name="Text 83"/>
          <p:cNvSpPr txBox="1"/>
          <p:nvPr/>
        </p:nvSpPr>
        <p:spPr>
          <a:xfrm>
            <a:off x="7067398" y="3133649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</a:t>
            </a:r>
            <a:endParaRPr lang="en-US" sz="800" dirty="0"/>
          </a:p>
        </p:txBody>
      </p:sp>
      <p:sp>
        <p:nvSpPr>
          <p:cNvPr id="98" name="Text 84"/>
          <p:cNvSpPr txBox="1"/>
          <p:nvPr/>
        </p:nvSpPr>
        <p:spPr>
          <a:xfrm>
            <a:off x="8115300" y="3133649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</a:t>
            </a:r>
            <a:endParaRPr lang="en-US" sz="800" dirty="0"/>
          </a:p>
        </p:txBody>
      </p:sp>
      <p:sp>
        <p:nvSpPr>
          <p:cNvPr id="99" name="Text 85"/>
          <p:cNvSpPr txBox="1"/>
          <p:nvPr/>
        </p:nvSpPr>
        <p:spPr>
          <a:xfrm>
            <a:off x="9191549" y="3133649"/>
            <a:ext cx="2862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</a:t>
            </a:r>
            <a:endParaRPr lang="en-US" sz="800" dirty="0"/>
          </a:p>
        </p:txBody>
      </p:sp>
      <p:pic>
        <p:nvPicPr>
          <p:cNvPr id="100" name="Image 12" descr="preencoded.png">    </p:cNvPr>
          <p:cNvPicPr>
            <a:picLocks noChangeAspect="1"/>
          </p:cNvPicPr>
          <p:nvPr/>
        </p:nvPicPr>
        <p:blipFill>
          <a:blip r:embed="rId13"/>
          <a:srcRect l="-1064" r="-1064" t="0" b="0"/>
          <a:stretch/>
        </p:blipFill>
        <p:spPr>
          <a:xfrm>
            <a:off x="1790395" y="3831336"/>
            <a:ext cx="219456" cy="171907"/>
          </a:xfrm>
          <a:prstGeom prst="rect">
            <a:avLst/>
          </a:prstGeom>
        </p:spPr>
      </p:pic>
      <p:sp>
        <p:nvSpPr>
          <p:cNvPr id="101" name="Text 86"/>
          <p:cNvSpPr txBox="1"/>
          <p:nvPr/>
        </p:nvSpPr>
        <p:spPr>
          <a:xfrm>
            <a:off x="2057400" y="3724351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地块负责人 / 组长</a:t>
            </a:r>
            <a:endParaRPr lang="en-US" sz="1000" dirty="0"/>
          </a:p>
        </p:txBody>
      </p:sp>
      <p:sp>
        <p:nvSpPr>
          <p:cNvPr id="102" name="Text 87"/>
          <p:cNvSpPr txBox="1"/>
          <p:nvPr/>
        </p:nvSpPr>
        <p:spPr>
          <a:xfrm>
            <a:off x="2057400" y="3943807"/>
            <a:ext cx="1714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审核农事 · 管采收</a:t>
            </a:r>
            <a:endParaRPr lang="en-US" sz="800" dirty="0"/>
          </a:p>
        </p:txBody>
      </p:sp>
      <p:sp>
        <p:nvSpPr>
          <p:cNvPr id="103" name="Text 88"/>
          <p:cNvSpPr txBox="1"/>
          <p:nvPr/>
        </p:nvSpPr>
        <p:spPr>
          <a:xfrm>
            <a:off x="3972154" y="3810305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审核/纠偏</a:t>
            </a:r>
            <a:endParaRPr lang="en-US" sz="800" dirty="0"/>
          </a:p>
        </p:txBody>
      </p:sp>
      <p:sp>
        <p:nvSpPr>
          <p:cNvPr id="104" name="Text 89"/>
          <p:cNvSpPr txBox="1"/>
          <p:nvPr/>
        </p:nvSpPr>
        <p:spPr>
          <a:xfrm>
            <a:off x="4972507" y="3810305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创建/审核</a:t>
            </a:r>
            <a:endParaRPr lang="en-US" sz="800" dirty="0"/>
          </a:p>
        </p:txBody>
      </p:sp>
      <p:sp>
        <p:nvSpPr>
          <p:cNvPr id="105" name="Text 90"/>
          <p:cNvSpPr txBox="1"/>
          <p:nvPr/>
        </p:nvSpPr>
        <p:spPr>
          <a:xfrm>
            <a:off x="6019495" y="3810305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仅查看</a:t>
            </a:r>
            <a:endParaRPr lang="en-US" sz="800" dirty="0"/>
          </a:p>
        </p:txBody>
      </p:sp>
      <p:sp>
        <p:nvSpPr>
          <p:cNvPr id="106" name="Text 91"/>
          <p:cNvSpPr txBox="1"/>
          <p:nvPr/>
        </p:nvSpPr>
        <p:spPr>
          <a:xfrm>
            <a:off x="7067398" y="3810305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</a:t>
            </a:r>
            <a:endParaRPr lang="en-US" sz="800" dirty="0"/>
          </a:p>
        </p:txBody>
      </p:sp>
      <p:sp>
        <p:nvSpPr>
          <p:cNvPr id="107" name="Text 92"/>
          <p:cNvSpPr txBox="1"/>
          <p:nvPr/>
        </p:nvSpPr>
        <p:spPr>
          <a:xfrm>
            <a:off x="8115300" y="3810305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仅查看</a:t>
            </a:r>
            <a:endParaRPr lang="en-US" sz="800" dirty="0"/>
          </a:p>
        </p:txBody>
      </p:sp>
      <p:sp>
        <p:nvSpPr>
          <p:cNvPr id="108" name="Text 93"/>
          <p:cNvSpPr txBox="1"/>
          <p:nvPr/>
        </p:nvSpPr>
        <p:spPr>
          <a:xfrm>
            <a:off x="9191549" y="3810305"/>
            <a:ext cx="2862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</a:t>
            </a:r>
            <a:endParaRPr lang="en-US" sz="800" dirty="0"/>
          </a:p>
        </p:txBody>
      </p:sp>
      <p:pic>
        <p:nvPicPr>
          <p:cNvPr id="109" name="Image 13" descr="preencoded.png">    </p:cNvPr>
          <p:cNvPicPr>
            <a:picLocks noChangeAspect="1"/>
          </p:cNvPicPr>
          <p:nvPr/>
        </p:nvPicPr>
        <p:blipFill>
          <a:blip r:embed="rId14"/>
          <a:srcRect l="-1064" r="-1064" t="0" b="0"/>
          <a:stretch/>
        </p:blipFill>
        <p:spPr>
          <a:xfrm>
            <a:off x="1790395" y="4507992"/>
            <a:ext cx="219456" cy="171907"/>
          </a:xfrm>
          <a:prstGeom prst="rect">
            <a:avLst/>
          </a:prstGeom>
        </p:spPr>
      </p:pic>
      <p:sp>
        <p:nvSpPr>
          <p:cNvPr id="110" name="Text 94"/>
          <p:cNvSpPr txBox="1"/>
          <p:nvPr/>
        </p:nvSpPr>
        <p:spPr>
          <a:xfrm>
            <a:off x="2057400" y="4401007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Packhouse 主管</a:t>
            </a:r>
            <a:endParaRPr lang="en-US" sz="1000" dirty="0"/>
          </a:p>
        </p:txBody>
      </p:sp>
      <p:sp>
        <p:nvSpPr>
          <p:cNvPr id="111" name="Text 95"/>
          <p:cNvSpPr txBox="1"/>
          <p:nvPr/>
        </p:nvSpPr>
        <p:spPr>
          <a:xfrm>
            <a:off x="2057400" y="4619549"/>
            <a:ext cx="1714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分级包装 · 调库存</a:t>
            </a:r>
            <a:endParaRPr lang="en-US" sz="800" dirty="0"/>
          </a:p>
        </p:txBody>
      </p:sp>
      <p:sp>
        <p:nvSpPr>
          <p:cNvPr id="112" name="Text 96"/>
          <p:cNvSpPr txBox="1"/>
          <p:nvPr/>
        </p:nvSpPr>
        <p:spPr>
          <a:xfrm>
            <a:off x="3972154" y="4486046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仅查看</a:t>
            </a:r>
            <a:endParaRPr lang="en-US" sz="800" dirty="0"/>
          </a:p>
        </p:txBody>
      </p:sp>
      <p:sp>
        <p:nvSpPr>
          <p:cNvPr id="113" name="Text 97"/>
          <p:cNvSpPr txBox="1"/>
          <p:nvPr/>
        </p:nvSpPr>
        <p:spPr>
          <a:xfrm>
            <a:off x="4972507" y="4486046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使用/关联</a:t>
            </a:r>
            <a:endParaRPr lang="en-US" sz="800" dirty="0"/>
          </a:p>
        </p:txBody>
      </p:sp>
      <p:sp>
        <p:nvSpPr>
          <p:cNvPr id="114" name="Text 98"/>
          <p:cNvSpPr txBox="1"/>
          <p:nvPr/>
        </p:nvSpPr>
        <p:spPr>
          <a:xfrm>
            <a:off x="6019495" y="4486046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调整/确认</a:t>
            </a:r>
            <a:endParaRPr lang="en-US" sz="800" dirty="0"/>
          </a:p>
        </p:txBody>
      </p:sp>
      <p:sp>
        <p:nvSpPr>
          <p:cNvPr id="115" name="Text 99"/>
          <p:cNvSpPr txBox="1"/>
          <p:nvPr/>
        </p:nvSpPr>
        <p:spPr>
          <a:xfrm>
            <a:off x="7067398" y="4486046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仅查看</a:t>
            </a:r>
            <a:endParaRPr lang="en-US" sz="800" dirty="0"/>
          </a:p>
        </p:txBody>
      </p:sp>
      <p:sp>
        <p:nvSpPr>
          <p:cNvPr id="116" name="Text 100"/>
          <p:cNvSpPr txBox="1"/>
          <p:nvPr/>
        </p:nvSpPr>
        <p:spPr>
          <a:xfrm>
            <a:off x="8115300" y="4486046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仅查看</a:t>
            </a:r>
            <a:endParaRPr lang="en-US" sz="800" dirty="0"/>
          </a:p>
        </p:txBody>
      </p:sp>
      <p:sp>
        <p:nvSpPr>
          <p:cNvPr id="117" name="Text 101"/>
          <p:cNvSpPr txBox="1"/>
          <p:nvPr/>
        </p:nvSpPr>
        <p:spPr>
          <a:xfrm>
            <a:off x="9191549" y="4486046"/>
            <a:ext cx="2862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</a:t>
            </a:r>
            <a:endParaRPr lang="en-US" sz="800" dirty="0"/>
          </a:p>
        </p:txBody>
      </p:sp>
      <p:pic>
        <p:nvPicPr>
          <p:cNvPr id="118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1790395" y="5183734"/>
            <a:ext cx="171907" cy="171907"/>
          </a:xfrm>
          <a:prstGeom prst="rect">
            <a:avLst/>
          </a:prstGeom>
        </p:spPr>
      </p:pic>
      <p:sp>
        <p:nvSpPr>
          <p:cNvPr id="119" name="Text 102"/>
          <p:cNvSpPr txBox="1"/>
          <p:nvPr/>
        </p:nvSpPr>
        <p:spPr>
          <a:xfrm>
            <a:off x="2057400" y="5076749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销售 / 客服</a:t>
            </a:r>
            <a:endParaRPr lang="en-US" sz="1000" dirty="0"/>
          </a:p>
        </p:txBody>
      </p:sp>
      <p:sp>
        <p:nvSpPr>
          <p:cNvPr id="120" name="Text 103"/>
          <p:cNvSpPr txBox="1"/>
          <p:nvPr/>
        </p:nvSpPr>
        <p:spPr>
          <a:xfrm>
            <a:off x="2057400" y="5296205"/>
            <a:ext cx="1714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录订单 · 跟履约</a:t>
            </a:r>
            <a:endParaRPr lang="en-US" sz="800" dirty="0"/>
          </a:p>
        </p:txBody>
      </p:sp>
      <p:sp>
        <p:nvSpPr>
          <p:cNvPr id="121" name="Text 104"/>
          <p:cNvSpPr txBox="1"/>
          <p:nvPr/>
        </p:nvSpPr>
        <p:spPr>
          <a:xfrm>
            <a:off x="3972154" y="5162702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仅查看</a:t>
            </a:r>
            <a:endParaRPr lang="en-US" sz="800" dirty="0"/>
          </a:p>
        </p:txBody>
      </p:sp>
      <p:sp>
        <p:nvSpPr>
          <p:cNvPr id="122" name="Text 105"/>
          <p:cNvSpPr txBox="1"/>
          <p:nvPr/>
        </p:nvSpPr>
        <p:spPr>
          <a:xfrm>
            <a:off x="4972507" y="5162702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追溯查询</a:t>
            </a:r>
            <a:endParaRPr lang="en-US" sz="800" dirty="0"/>
          </a:p>
        </p:txBody>
      </p:sp>
      <p:sp>
        <p:nvSpPr>
          <p:cNvPr id="123" name="Text 106"/>
          <p:cNvSpPr txBox="1"/>
          <p:nvPr/>
        </p:nvSpPr>
        <p:spPr>
          <a:xfrm>
            <a:off x="6019495" y="5162702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查看可售</a:t>
            </a:r>
            <a:endParaRPr lang="en-US" sz="800" dirty="0"/>
          </a:p>
        </p:txBody>
      </p:sp>
      <p:sp>
        <p:nvSpPr>
          <p:cNvPr id="124" name="Text 107"/>
          <p:cNvSpPr txBox="1"/>
          <p:nvPr/>
        </p:nvSpPr>
        <p:spPr>
          <a:xfrm>
            <a:off x="7067398" y="5162702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创建/更新</a:t>
            </a:r>
            <a:endParaRPr lang="en-US" sz="800" dirty="0"/>
          </a:p>
        </p:txBody>
      </p:sp>
      <p:sp>
        <p:nvSpPr>
          <p:cNvPr id="125" name="Text 108"/>
          <p:cNvSpPr txBox="1"/>
          <p:nvPr/>
        </p:nvSpPr>
        <p:spPr>
          <a:xfrm>
            <a:off x="8115300" y="5162702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客诉登记</a:t>
            </a:r>
            <a:endParaRPr lang="en-US" sz="800" dirty="0"/>
          </a:p>
        </p:txBody>
      </p:sp>
      <p:sp>
        <p:nvSpPr>
          <p:cNvPr id="126" name="Text 109"/>
          <p:cNvSpPr txBox="1"/>
          <p:nvPr/>
        </p:nvSpPr>
        <p:spPr>
          <a:xfrm>
            <a:off x="9191549" y="5162702"/>
            <a:ext cx="2862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</a:t>
            </a:r>
            <a:endParaRPr lang="en-US" sz="800" dirty="0"/>
          </a:p>
        </p:txBody>
      </p:sp>
      <p:pic>
        <p:nvPicPr>
          <p:cNvPr id="127" name="Image 15" descr="preencoded.png">    </p:cNvPr>
          <p:cNvPicPr>
            <a:picLocks noChangeAspect="1"/>
          </p:cNvPicPr>
          <p:nvPr/>
        </p:nvPicPr>
        <p:blipFill>
          <a:blip r:embed="rId16"/>
          <a:srcRect l="-760" r="-760" t="0" b="0"/>
          <a:stretch/>
        </p:blipFill>
        <p:spPr>
          <a:xfrm>
            <a:off x="1790395" y="5860390"/>
            <a:ext cx="152705" cy="171907"/>
          </a:xfrm>
          <a:prstGeom prst="rect">
            <a:avLst/>
          </a:prstGeom>
        </p:spPr>
      </p:pic>
      <p:sp>
        <p:nvSpPr>
          <p:cNvPr id="128" name="Text 110"/>
          <p:cNvSpPr txBox="1"/>
          <p:nvPr/>
        </p:nvSpPr>
        <p:spPr>
          <a:xfrm>
            <a:off x="2057400" y="5753405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农场经理 / 老板</a:t>
            </a:r>
            <a:endParaRPr lang="en-US" sz="1000" dirty="0"/>
          </a:p>
        </p:txBody>
      </p:sp>
      <p:sp>
        <p:nvSpPr>
          <p:cNvPr id="129" name="Text 111"/>
          <p:cNvSpPr txBox="1"/>
          <p:nvPr/>
        </p:nvSpPr>
        <p:spPr>
          <a:xfrm>
            <a:off x="2057400" y="5971946"/>
            <a:ext cx="1714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全局看板 · 权限配置</a:t>
            </a:r>
            <a:endParaRPr lang="en-US" sz="800" dirty="0"/>
          </a:p>
        </p:txBody>
      </p:sp>
      <p:sp>
        <p:nvSpPr>
          <p:cNvPr id="130" name="Text 112"/>
          <p:cNvSpPr txBox="1"/>
          <p:nvPr/>
        </p:nvSpPr>
        <p:spPr>
          <a:xfrm>
            <a:off x="3972154" y="5838444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全局查看</a:t>
            </a:r>
            <a:endParaRPr lang="en-US" sz="800" dirty="0"/>
          </a:p>
        </p:txBody>
      </p:sp>
      <p:sp>
        <p:nvSpPr>
          <p:cNvPr id="131" name="Text 113"/>
          <p:cNvSpPr txBox="1"/>
          <p:nvPr/>
        </p:nvSpPr>
        <p:spPr>
          <a:xfrm>
            <a:off x="4972507" y="5838444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全局查看</a:t>
            </a:r>
            <a:endParaRPr lang="en-US" sz="800" dirty="0"/>
          </a:p>
        </p:txBody>
      </p:sp>
      <p:sp>
        <p:nvSpPr>
          <p:cNvPr id="132" name="Text 114"/>
          <p:cNvSpPr txBox="1"/>
          <p:nvPr/>
        </p:nvSpPr>
        <p:spPr>
          <a:xfrm>
            <a:off x="6019495" y="5838444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审批口径</a:t>
            </a:r>
            <a:endParaRPr lang="en-US" sz="800" dirty="0"/>
          </a:p>
        </p:txBody>
      </p:sp>
      <p:sp>
        <p:nvSpPr>
          <p:cNvPr id="133" name="Text 115"/>
          <p:cNvSpPr txBox="1"/>
          <p:nvPr/>
        </p:nvSpPr>
        <p:spPr>
          <a:xfrm>
            <a:off x="7067398" y="5838444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审批/复盘</a:t>
            </a:r>
            <a:endParaRPr lang="en-US" sz="800" dirty="0"/>
          </a:p>
        </p:txBody>
      </p:sp>
      <p:sp>
        <p:nvSpPr>
          <p:cNvPr id="134" name="Text 116"/>
          <p:cNvSpPr txBox="1"/>
          <p:nvPr/>
        </p:nvSpPr>
        <p:spPr>
          <a:xfrm>
            <a:off x="8115300" y="5838444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追溯可见</a:t>
            </a:r>
            <a:endParaRPr lang="en-US" sz="800" dirty="0"/>
          </a:p>
        </p:txBody>
      </p:sp>
      <p:sp>
        <p:nvSpPr>
          <p:cNvPr id="135" name="Text 117"/>
          <p:cNvSpPr txBox="1"/>
          <p:nvPr/>
        </p:nvSpPr>
        <p:spPr>
          <a:xfrm>
            <a:off x="9191549" y="5838444"/>
            <a:ext cx="286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900" dirty="0"/>
          </a:p>
        </p:txBody>
      </p:sp>
      <p:sp>
        <p:nvSpPr>
          <p:cNvPr id="136" name="Text 118"/>
          <p:cNvSpPr txBox="1"/>
          <p:nvPr/>
        </p:nvSpPr>
        <p:spPr>
          <a:xfrm>
            <a:off x="1962302" y="6381598"/>
            <a:ext cx="2248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蓝色</a:t>
            </a:r>
            <a:pPr algn="l" indent="0" marL="0">
              <a:buNone/>
            </a:pPr>
            <a:r>
              <a:rPr lang="en-US" sz="8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：可创建/可审核/可调整</a:t>
            </a:r>
            <a:endParaRPr lang="en-US" sz="800" dirty="0"/>
          </a:p>
        </p:txBody>
      </p:sp>
      <p:sp>
        <p:nvSpPr>
          <p:cNvPr id="137" name="Text 119"/>
          <p:cNvSpPr txBox="1"/>
          <p:nvPr/>
        </p:nvSpPr>
        <p:spPr>
          <a:xfrm>
            <a:off x="4724705" y="6381598"/>
            <a:ext cx="20391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灰色</a:t>
            </a:r>
            <a:pPr algn="l" indent="0" marL="0">
              <a:buNone/>
            </a:pPr>
            <a:r>
              <a:rPr lang="en-US" sz="8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：仅查看/无权限</a:t>
            </a:r>
            <a:endParaRPr lang="en-US" sz="800" dirty="0"/>
          </a:p>
        </p:txBody>
      </p:sp>
      <p:pic>
        <p:nvPicPr>
          <p:cNvPr id="138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7105802" y="6467551"/>
            <a:ext cx="152705" cy="152705"/>
          </a:xfrm>
          <a:prstGeom prst="rect">
            <a:avLst/>
          </a:prstGeom>
        </p:spPr>
      </p:pic>
      <p:sp>
        <p:nvSpPr>
          <p:cNvPr id="139" name="Text 120"/>
          <p:cNvSpPr txBox="1"/>
          <p:nvPr/>
        </p:nvSpPr>
        <p:spPr>
          <a:xfrm>
            <a:off x="7334402" y="6381598"/>
            <a:ext cx="21909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关键动作（库存调整/出库）建议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强制留痕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38505"/>
            <a:ext cx="875995" cy="6019495"/>
          </a:xfrm>
          <a:prstGeom prst="rect">
            <a:avLst/>
          </a:prstGeom>
          <a:solidFill>
            <a:srgbClr val="0F6C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429207"/>
            <a:ext cx="8973007" cy="5067605"/>
          </a:xfrm>
          <a:prstGeom prst="roundRect">
            <a:avLst>
              <a:gd name="adj" fmla="val 1221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1429207"/>
            <a:ext cx="1447495" cy="5067605"/>
          </a:xfrm>
          <a:prstGeom prst="roundRect">
            <a:avLst>
              <a:gd name="adj" fmla="val 14962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10287000" y="1429207"/>
            <a:ext cx="1429207" cy="5907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401300" y="4953305"/>
            <a:ext cx="1200607" cy="1352398"/>
          </a:xfrm>
          <a:prstGeom prst="roundRect">
            <a:avLst>
              <a:gd name="adj" fmla="val 16925"/>
            </a:avLst>
          </a:prstGeom>
          <a:solidFill>
            <a:srgbClr val="0B2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29207" y="1619402"/>
            <a:ext cx="8401507" cy="437998"/>
          </a:xfrm>
          <a:prstGeom prst="roundRect">
            <a:avLst>
              <a:gd name="adj" fmla="val 127076"/>
            </a:avLst>
          </a:prstGeom>
          <a:solidFill>
            <a:srgbClr val="EEF6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29207" y="2143354"/>
            <a:ext cx="8401507" cy="4209898"/>
          </a:xfrm>
          <a:prstGeom prst="roundRect">
            <a:avLst>
              <a:gd name="adj" fmla="val 1573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19402" y="2333549"/>
            <a:ext cx="2619756" cy="1828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4" r="-4" t="0" b="0"/>
          <a:stretch/>
        </p:blipFill>
        <p:spPr>
          <a:xfrm>
            <a:off x="1619402" y="2333549"/>
            <a:ext cx="2600554" cy="5715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410151" y="2333549"/>
            <a:ext cx="2619756" cy="1828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-4" r="-4" t="0" b="0"/>
          <a:stretch/>
        </p:blipFill>
        <p:spPr>
          <a:xfrm>
            <a:off x="4410151" y="2333549"/>
            <a:ext cx="2600554" cy="5715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200900" y="2333549"/>
            <a:ext cx="2619756" cy="1828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-4" r="-4" t="0" b="0"/>
          <a:stretch/>
        </p:blipFill>
        <p:spPr>
          <a:xfrm>
            <a:off x="7200900" y="2333549"/>
            <a:ext cx="2600554" cy="5715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619402" y="4334256"/>
            <a:ext cx="2619756" cy="1828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-4" r="-4" t="0" b="0"/>
          <a:stretch/>
        </p:blipFill>
        <p:spPr>
          <a:xfrm>
            <a:off x="1619402" y="4334256"/>
            <a:ext cx="2600554" cy="5715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4410151" y="4334256"/>
            <a:ext cx="2619756" cy="1828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-4" r="-4" t="0" b="0"/>
          <a:stretch/>
        </p:blipFill>
        <p:spPr>
          <a:xfrm>
            <a:off x="4410151" y="4334256"/>
            <a:ext cx="2600554" cy="57150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200900" y="4334256"/>
            <a:ext cx="2619756" cy="1828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-4" r="-4" t="0" b="0"/>
          <a:stretch/>
        </p:blipFill>
        <p:spPr>
          <a:xfrm>
            <a:off x="7200900" y="4334256"/>
            <a:ext cx="2600554" cy="57150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1619402" y="6229807"/>
            <a:ext cx="8020202" cy="362102"/>
          </a:xfrm>
          <a:prstGeom prst="roundRect">
            <a:avLst>
              <a:gd name="adj" fmla="val 252526"/>
            </a:avLst>
          </a:prstGeom>
          <a:solidFill>
            <a:srgbClr val="F6F9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1143000" y="171907"/>
            <a:ext cx="9906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分析与报表体系（经营看板）</a:t>
            </a:r>
            <a:endParaRPr lang="en-US" sz="1500" dirty="0"/>
          </a:p>
        </p:txBody>
      </p:sp>
      <p:sp>
        <p:nvSpPr>
          <p:cNvPr id="27" name="Text 18"/>
          <p:cNvSpPr txBox="1"/>
          <p:nvPr/>
        </p:nvSpPr>
        <p:spPr>
          <a:xfrm>
            <a:off x="1143000" y="504749"/>
            <a:ext cx="9906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" kern="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Reporting &amp; KPI · From Records to Decisions</a:t>
            </a:r>
            <a:endParaRPr lang="en-US" sz="900" dirty="0"/>
          </a:p>
        </p:txBody>
      </p:sp>
      <p:sp>
        <p:nvSpPr>
          <p:cNvPr id="28" name="Text 19"/>
          <p:cNvSpPr txBox="1"/>
          <p:nvPr/>
        </p:nvSpPr>
        <p:spPr>
          <a:xfrm>
            <a:off x="1143000" y="1009498"/>
            <a:ext cx="9906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讨论重点：统一指标口径与维度（按地块/作物/批次/客户/人员），让数据可对账、可复盘、可驱动行动</a:t>
            </a:r>
            <a:endParaRPr lang="en-US" sz="10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458907" y="1669694"/>
            <a:ext cx="171907" cy="171907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10705795" y="1580998"/>
            <a:ext cx="914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对齐点</a:t>
            </a:r>
            <a:endParaRPr lang="en-US" sz="1000" dirty="0"/>
          </a:p>
        </p:txBody>
      </p:sp>
      <p:sp>
        <p:nvSpPr>
          <p:cNvPr id="31" name="Text 21"/>
          <p:cNvSpPr txBox="1"/>
          <p:nvPr/>
        </p:nvSpPr>
        <p:spPr>
          <a:xfrm>
            <a:off x="10705795" y="1809598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指标口径</a:t>
            </a:r>
            <a:endParaRPr lang="en-US" sz="800" dirty="0"/>
          </a:p>
        </p:txBody>
      </p:sp>
      <p:sp>
        <p:nvSpPr>
          <p:cNvPr id="32" name="Text 22"/>
          <p:cNvSpPr txBox="1"/>
          <p:nvPr/>
        </p:nvSpPr>
        <p:spPr>
          <a:xfrm>
            <a:off x="10458907" y="2143354"/>
            <a:ext cx="1143000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1) 库存周转口径？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2) 损耗率怎么定义？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3) 订单完成率/准时率？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4) 质量合格/客诉指标？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5) 人效 KPI 的归因规则？ </a:t>
            </a:r>
            <a:endParaRPr lang="en-US" sz="9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0554005" y="5152644"/>
            <a:ext cx="152705" cy="152705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10782605" y="5067605"/>
            <a:ext cx="762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原则</a:t>
            </a:r>
            <a:endParaRPr lang="en-US" sz="900" dirty="0"/>
          </a:p>
        </p:txBody>
      </p:sp>
      <p:sp>
        <p:nvSpPr>
          <p:cNvPr id="35" name="Text 24"/>
          <p:cNvSpPr txBox="1"/>
          <p:nvPr/>
        </p:nvSpPr>
        <p:spPr>
          <a:xfrm>
            <a:off x="10782605" y="5305349"/>
            <a:ext cx="7626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先口径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后看板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可对账 </a:t>
            </a:r>
            <a:endParaRPr lang="en-US" sz="80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619402" y="1781251"/>
            <a:ext cx="152705" cy="152705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1848002" y="1695298"/>
            <a:ext cx="7810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六类看板覆盖：</a:t>
            </a:r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生产</a:t>
            </a:r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采收</a:t>
            </a:r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包装库存</a:t>
            </a:r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销售</a:t>
            </a:r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质量</a:t>
            </a:r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人员</a:t>
            </a:r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（建议均支持按 Plot / Batch 追溯） </a:t>
            </a:r>
            <a:endParaRPr lang="en-US" sz="9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809598" y="2545690"/>
            <a:ext cx="171907" cy="171907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2076602" y="2438705"/>
            <a:ext cx="2000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生产报表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2076602" y="2667305"/>
            <a:ext cx="20007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Plot / Activity / Input</a:t>
            </a:r>
            <a:endParaRPr lang="en-US" sz="800" dirty="0"/>
          </a:p>
        </p:txBody>
      </p:sp>
      <p:sp>
        <p:nvSpPr>
          <p:cNvPr id="41" name="Text 28"/>
          <p:cNvSpPr txBox="1"/>
          <p:nvPr/>
        </p:nvSpPr>
        <p:spPr>
          <a:xfrm>
            <a:off x="1809598" y="2971800"/>
            <a:ext cx="22201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关注指标</a:t>
            </a:r>
            <a:endParaRPr lang="en-US" sz="900" dirty="0"/>
          </a:p>
        </p:txBody>
      </p:sp>
      <p:sp>
        <p:nvSpPr>
          <p:cNvPr id="42" name="Text 29"/>
          <p:cNvSpPr txBox="1"/>
          <p:nvPr/>
        </p:nvSpPr>
        <p:spPr>
          <a:xfrm>
            <a:off x="1809598" y="3228746"/>
            <a:ext cx="2220163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地块种植情况（面积/状态）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投入品使用统计（肥/药/种）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农事执行情况（完成率） </a:t>
            </a:r>
            <a:endParaRPr lang="en-US" sz="900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842" b="-842"/>
          <a:stretch/>
        </p:blipFill>
        <p:spPr>
          <a:xfrm>
            <a:off x="4600346" y="2545690"/>
            <a:ext cx="190195" cy="171907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4867351" y="2438705"/>
            <a:ext cx="2000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采收报表</a:t>
            </a:r>
            <a:endParaRPr lang="en-US" sz="1000" dirty="0"/>
          </a:p>
        </p:txBody>
      </p:sp>
      <p:sp>
        <p:nvSpPr>
          <p:cNvPr id="45" name="Text 31"/>
          <p:cNvSpPr txBox="1"/>
          <p:nvPr/>
        </p:nvSpPr>
        <p:spPr>
          <a:xfrm>
            <a:off x="4867351" y="2667305"/>
            <a:ext cx="20007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Harvest / Batch / Yield</a:t>
            </a:r>
            <a:endParaRPr lang="en-US" sz="800" dirty="0"/>
          </a:p>
        </p:txBody>
      </p:sp>
      <p:sp>
        <p:nvSpPr>
          <p:cNvPr id="46" name="Text 32"/>
          <p:cNvSpPr txBox="1"/>
          <p:nvPr/>
        </p:nvSpPr>
        <p:spPr>
          <a:xfrm>
            <a:off x="4600346" y="2971800"/>
            <a:ext cx="22201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关注指标</a:t>
            </a:r>
            <a:endParaRPr lang="en-US" sz="900" dirty="0"/>
          </a:p>
        </p:txBody>
      </p:sp>
      <p:sp>
        <p:nvSpPr>
          <p:cNvPr id="47" name="Text 33"/>
          <p:cNvSpPr txBox="1"/>
          <p:nvPr/>
        </p:nvSpPr>
        <p:spPr>
          <a:xfrm>
            <a:off x="4600346" y="3228746"/>
            <a:ext cx="2220163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按地块产量（kg/箱）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按作物产量（品类对比）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按批次统计（批次分布） </a:t>
            </a:r>
            <a:endParaRPr lang="en-US" sz="900" dirty="0"/>
          </a:p>
        </p:txBody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rcRect l="-1064" r="-1064" t="0" b="0"/>
          <a:stretch/>
        </p:blipFill>
        <p:spPr>
          <a:xfrm>
            <a:off x="7391095" y="2545690"/>
            <a:ext cx="219456" cy="171907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7658100" y="2438705"/>
            <a:ext cx="2000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包装库存报表</a:t>
            </a:r>
            <a:endParaRPr lang="en-US" sz="1000" dirty="0"/>
          </a:p>
        </p:txBody>
      </p:sp>
      <p:sp>
        <p:nvSpPr>
          <p:cNvPr id="50" name="Text 35"/>
          <p:cNvSpPr txBox="1"/>
          <p:nvPr/>
        </p:nvSpPr>
        <p:spPr>
          <a:xfrm>
            <a:off x="7658100" y="2667305"/>
            <a:ext cx="20007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Grading / Packing / Inventory</a:t>
            </a:r>
            <a:endParaRPr lang="en-US" sz="800" dirty="0"/>
          </a:p>
        </p:txBody>
      </p:sp>
      <p:sp>
        <p:nvSpPr>
          <p:cNvPr id="51" name="Text 36"/>
          <p:cNvSpPr txBox="1"/>
          <p:nvPr/>
        </p:nvSpPr>
        <p:spPr>
          <a:xfrm>
            <a:off x="7391095" y="2971800"/>
            <a:ext cx="22201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关注指标</a:t>
            </a:r>
            <a:endParaRPr lang="en-US" sz="900" dirty="0"/>
          </a:p>
        </p:txBody>
      </p:sp>
      <p:sp>
        <p:nvSpPr>
          <p:cNvPr id="52" name="Text 37"/>
          <p:cNvSpPr txBox="1"/>
          <p:nvPr/>
        </p:nvSpPr>
        <p:spPr>
          <a:xfrm>
            <a:off x="7391095" y="3228746"/>
            <a:ext cx="2220163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分级比例（A/B/C）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包装损耗 / 报损原因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当前库存与库存周转 </a:t>
            </a:r>
            <a:endParaRPr lang="en-US" sz="900" dirty="0"/>
          </a:p>
        </p:txBody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14"/>
          <a:srcRect l="-1064" r="-1064" t="0" b="0"/>
          <a:stretch/>
        </p:blipFill>
        <p:spPr>
          <a:xfrm>
            <a:off x="1809598" y="4545482"/>
            <a:ext cx="219456" cy="171907"/>
          </a:xfrm>
          <a:prstGeom prst="rect">
            <a:avLst/>
          </a:prstGeom>
        </p:spPr>
      </p:pic>
      <p:sp>
        <p:nvSpPr>
          <p:cNvPr id="54" name="Text 38"/>
          <p:cNvSpPr txBox="1"/>
          <p:nvPr/>
        </p:nvSpPr>
        <p:spPr>
          <a:xfrm>
            <a:off x="2076602" y="4438498"/>
            <a:ext cx="2000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销售报表</a:t>
            </a:r>
            <a:endParaRPr lang="en-US" sz="1000" dirty="0"/>
          </a:p>
        </p:txBody>
      </p:sp>
      <p:sp>
        <p:nvSpPr>
          <p:cNvPr id="55" name="Text 39"/>
          <p:cNvSpPr txBox="1"/>
          <p:nvPr/>
        </p:nvSpPr>
        <p:spPr>
          <a:xfrm>
            <a:off x="2076602" y="4667098"/>
            <a:ext cx="20007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Customer / Order / Logistics</a:t>
            </a:r>
            <a:endParaRPr lang="en-US" sz="800" dirty="0"/>
          </a:p>
        </p:txBody>
      </p:sp>
      <p:sp>
        <p:nvSpPr>
          <p:cNvPr id="56" name="Text 40"/>
          <p:cNvSpPr txBox="1"/>
          <p:nvPr/>
        </p:nvSpPr>
        <p:spPr>
          <a:xfrm>
            <a:off x="1809598" y="4972507"/>
            <a:ext cx="22201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关注指标</a:t>
            </a:r>
            <a:endParaRPr lang="en-US" sz="900" dirty="0"/>
          </a:p>
        </p:txBody>
      </p:sp>
      <p:sp>
        <p:nvSpPr>
          <p:cNvPr id="57" name="Text 41"/>
          <p:cNvSpPr txBox="1"/>
          <p:nvPr/>
        </p:nvSpPr>
        <p:spPr>
          <a:xfrm>
            <a:off x="1809598" y="5229454"/>
            <a:ext cx="2220163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客户销量（客户分层）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SKU 销量（规格/等级）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完成率与配送准时率 </a:t>
            </a:r>
            <a:endParaRPr lang="en-US" sz="900" dirty="0"/>
          </a:p>
        </p:txBody>
      </p:sp>
      <p:pic>
        <p:nvPicPr>
          <p:cNvPr id="58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4600346" y="4545482"/>
            <a:ext cx="171907" cy="171907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4867351" y="4438498"/>
            <a:ext cx="2000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质量报表</a:t>
            </a:r>
            <a:endParaRPr lang="en-US" sz="1000" dirty="0"/>
          </a:p>
        </p:txBody>
      </p:sp>
      <p:sp>
        <p:nvSpPr>
          <p:cNvPr id="60" name="Text 43"/>
          <p:cNvSpPr txBox="1"/>
          <p:nvPr/>
        </p:nvSpPr>
        <p:spPr>
          <a:xfrm>
            <a:off x="4867351" y="4667098"/>
            <a:ext cx="20007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QC / Residue / Traceability</a:t>
            </a:r>
            <a:endParaRPr lang="en-US" sz="800" dirty="0"/>
          </a:p>
        </p:txBody>
      </p:sp>
      <p:sp>
        <p:nvSpPr>
          <p:cNvPr id="61" name="Text 44"/>
          <p:cNvSpPr txBox="1"/>
          <p:nvPr/>
        </p:nvSpPr>
        <p:spPr>
          <a:xfrm>
            <a:off x="4600346" y="4972507"/>
            <a:ext cx="22201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关注指标</a:t>
            </a:r>
            <a:endParaRPr lang="en-US" sz="900" dirty="0"/>
          </a:p>
        </p:txBody>
      </p:sp>
      <p:sp>
        <p:nvSpPr>
          <p:cNvPr id="62" name="Text 45"/>
          <p:cNvSpPr txBox="1"/>
          <p:nvPr/>
        </p:nvSpPr>
        <p:spPr>
          <a:xfrm>
            <a:off x="4600346" y="5229454"/>
            <a:ext cx="2220163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检测记录（合格率/超标）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客诉记录（原因/处理）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追溯查询（批次链路） </a:t>
            </a:r>
            <a:endParaRPr lang="en-US" sz="900" dirty="0"/>
          </a:p>
        </p:txBody>
      </p:sp>
      <p:pic>
        <p:nvPicPr>
          <p:cNvPr id="63" name="Image 15" descr="preencoded.png">    </p:cNvPr>
          <p:cNvPicPr>
            <a:picLocks noChangeAspect="1"/>
          </p:cNvPicPr>
          <p:nvPr/>
        </p:nvPicPr>
        <p:blipFill>
          <a:blip r:embed="rId16"/>
          <a:srcRect l="-1064" r="-1064" t="0" b="0"/>
          <a:stretch/>
        </p:blipFill>
        <p:spPr>
          <a:xfrm>
            <a:off x="7391095" y="4545482"/>
            <a:ext cx="219456" cy="171907"/>
          </a:xfrm>
          <a:prstGeom prst="rect">
            <a:avLst/>
          </a:prstGeom>
        </p:spPr>
      </p:pic>
      <p:sp>
        <p:nvSpPr>
          <p:cNvPr id="64" name="Text 46"/>
          <p:cNvSpPr txBox="1"/>
          <p:nvPr/>
        </p:nvSpPr>
        <p:spPr>
          <a:xfrm>
            <a:off x="7658100" y="4438498"/>
            <a:ext cx="2000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人员报表</a:t>
            </a:r>
            <a:endParaRPr lang="en-US" sz="1000" dirty="0"/>
          </a:p>
        </p:txBody>
      </p:sp>
      <p:sp>
        <p:nvSpPr>
          <p:cNvPr id="65" name="Text 47"/>
          <p:cNvSpPr txBox="1"/>
          <p:nvPr/>
        </p:nvSpPr>
        <p:spPr>
          <a:xfrm>
            <a:off x="7658100" y="4667098"/>
            <a:ext cx="20007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Staff / Daily / KPI</a:t>
            </a:r>
            <a:endParaRPr lang="en-US" sz="800" dirty="0"/>
          </a:p>
        </p:txBody>
      </p:sp>
      <p:sp>
        <p:nvSpPr>
          <p:cNvPr id="66" name="Text 48"/>
          <p:cNvSpPr txBox="1"/>
          <p:nvPr/>
        </p:nvSpPr>
        <p:spPr>
          <a:xfrm>
            <a:off x="7391095" y="4972507"/>
            <a:ext cx="22201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关注指标</a:t>
            </a:r>
            <a:endParaRPr lang="en-US" sz="900" dirty="0"/>
          </a:p>
        </p:txBody>
      </p:sp>
      <p:sp>
        <p:nvSpPr>
          <p:cNvPr id="67" name="Text 49"/>
          <p:cNvSpPr txBox="1"/>
          <p:nvPr/>
        </p:nvSpPr>
        <p:spPr>
          <a:xfrm>
            <a:off x="7391095" y="5229454"/>
            <a:ext cx="2220163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日报完成率（按组/人）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地块负责人绩效（责任）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组别 KPI（人效/产出） </a:t>
            </a:r>
            <a:endParaRPr lang="en-US" sz="900" dirty="0"/>
          </a:p>
        </p:txBody>
      </p:sp>
      <p:sp>
        <p:nvSpPr>
          <p:cNvPr id="68" name="Text 50"/>
          <p:cNvSpPr txBox="1"/>
          <p:nvPr/>
        </p:nvSpPr>
        <p:spPr>
          <a:xfrm>
            <a:off x="1809598" y="6314846"/>
            <a:ext cx="7620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建议：指标统一按“批次（Batch）”与“库存口径（Inventory）”对账，保证从生产记录到经营看板一致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38505"/>
            <a:ext cx="875995" cy="6019495"/>
          </a:xfrm>
          <a:prstGeom prst="rect">
            <a:avLst/>
          </a:prstGeom>
          <a:solidFill>
            <a:srgbClr val="0F6C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429207"/>
            <a:ext cx="8973007" cy="5067605"/>
          </a:xfrm>
          <a:prstGeom prst="roundRect">
            <a:avLst>
              <a:gd name="adj" fmla="val 1221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1429207"/>
            <a:ext cx="1447495" cy="5067605"/>
          </a:xfrm>
          <a:prstGeom prst="roundRect">
            <a:avLst>
              <a:gd name="adj" fmla="val 14962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10287000" y="1429207"/>
            <a:ext cx="1429207" cy="5907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401300" y="4953305"/>
            <a:ext cx="1200607" cy="1352398"/>
          </a:xfrm>
          <a:prstGeom prst="roundRect">
            <a:avLst>
              <a:gd name="adj" fmla="val 16925"/>
            </a:avLst>
          </a:prstGeom>
          <a:solidFill>
            <a:srgbClr val="0B2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29207" y="1619402"/>
            <a:ext cx="8401507" cy="437998"/>
          </a:xfrm>
          <a:prstGeom prst="roundRect">
            <a:avLst>
              <a:gd name="adj" fmla="val 127076"/>
            </a:avLst>
          </a:prstGeom>
          <a:solidFill>
            <a:srgbClr val="EEF6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78" r="-78" t="0" b="0"/>
          <a:stretch/>
        </p:blipFill>
        <p:spPr>
          <a:xfrm>
            <a:off x="1809598" y="2648102"/>
            <a:ext cx="7619695" cy="9509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381098" y="2553005"/>
            <a:ext cx="286207" cy="286207"/>
          </a:xfrm>
          <a:prstGeom prst="ellipse">
            <a:avLst/>
          </a:prstGeom>
          <a:solidFill>
            <a:srgbClr val="2B7C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77256" y="2553005"/>
            <a:ext cx="286207" cy="286207"/>
          </a:xfrm>
          <a:prstGeom prst="ellipse">
            <a:avLst/>
          </a:prstGeom>
          <a:solidFill>
            <a:srgbClr val="0F6C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72500" y="2553005"/>
            <a:ext cx="286207" cy="286207"/>
          </a:xfrm>
          <a:prstGeom prst="ellipse">
            <a:avLst/>
          </a:prstGeom>
          <a:solidFill>
            <a:srgbClr val="0B2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429207" y="3000146"/>
            <a:ext cx="8401507" cy="2924251"/>
          </a:xfrm>
          <a:prstGeom prst="roundRect">
            <a:avLst>
              <a:gd name="adj" fmla="val 3259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619402" y="3191256"/>
            <a:ext cx="2609698" cy="2562149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 w="25400">
            <a:solidFill>
              <a:srgbClr val="2B7CD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-9" r="-9" t="0" b="0"/>
          <a:stretch/>
        </p:blipFill>
        <p:spPr>
          <a:xfrm>
            <a:off x="1619402" y="3191256"/>
            <a:ext cx="2572207" cy="6858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31" b="-31"/>
          <a:stretch/>
        </p:blipFill>
        <p:spPr>
          <a:xfrm>
            <a:off x="1619402" y="3191256"/>
            <a:ext cx="1028700" cy="24780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809598" y="5219395"/>
            <a:ext cx="2190902" cy="400507"/>
          </a:xfrm>
          <a:prstGeom prst="roundRect">
            <a:avLst>
              <a:gd name="adj" fmla="val 130463"/>
            </a:avLst>
          </a:prstGeom>
          <a:solidFill>
            <a:srgbClr val="0B2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476902" y="3191256"/>
            <a:ext cx="2590495" cy="2542946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-9" r="-9" t="0" b="0"/>
          <a:stretch/>
        </p:blipFill>
        <p:spPr>
          <a:xfrm>
            <a:off x="4476902" y="3191256"/>
            <a:ext cx="2572207" cy="685800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31" b="-31"/>
          <a:stretch/>
        </p:blipFill>
        <p:spPr>
          <a:xfrm>
            <a:off x="4476902" y="3191256"/>
            <a:ext cx="1028700" cy="247802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4667098" y="5219395"/>
            <a:ext cx="2210105" cy="418795"/>
          </a:xfrm>
          <a:prstGeom prst="roundRect">
            <a:avLst>
              <a:gd name="adj" fmla="val 119095"/>
            </a:avLst>
          </a:prstGeom>
          <a:solidFill>
            <a:srgbClr val="F6F9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7334402" y="3191256"/>
            <a:ext cx="2495398" cy="2542946"/>
          </a:xfrm>
          <a:prstGeom prst="roundRect">
            <a:avLst>
              <a:gd name="adj" fmla="val 5035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6" b="-6"/>
          <a:stretch/>
        </p:blipFill>
        <p:spPr>
          <a:xfrm>
            <a:off x="7334402" y="3191256"/>
            <a:ext cx="2476195" cy="685800"/>
          </a:xfrm>
          <a:prstGeom prst="rect">
            <a:avLst/>
          </a:prstGeom>
        </p:spPr>
      </p:pic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31" b="-31"/>
          <a:stretch/>
        </p:blipFill>
        <p:spPr>
          <a:xfrm>
            <a:off x="7334402" y="3191256"/>
            <a:ext cx="1028700" cy="247802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7524598" y="5219395"/>
            <a:ext cx="2115007" cy="418795"/>
          </a:xfrm>
          <a:prstGeom prst="roundRect">
            <a:avLst>
              <a:gd name="adj" fmla="val 119095"/>
            </a:avLst>
          </a:prstGeom>
          <a:solidFill>
            <a:srgbClr val="F6F9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1429207" y="6057900"/>
            <a:ext cx="8382305" cy="418795"/>
          </a:xfrm>
          <a:prstGeom prst="roundRect">
            <a:avLst>
              <a:gd name="adj" fmla="val 158793"/>
            </a:avLst>
          </a:prstGeom>
          <a:solidFill>
            <a:srgbClr val="0B2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0"/>
          <p:cNvSpPr txBox="1"/>
          <p:nvPr/>
        </p:nvSpPr>
        <p:spPr>
          <a:xfrm>
            <a:off x="1143000" y="171907"/>
            <a:ext cx="9906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系统建设路线图（三阶段）</a:t>
            </a:r>
            <a:endParaRPr lang="en-US" sz="1500" dirty="0"/>
          </a:p>
        </p:txBody>
      </p:sp>
      <p:sp>
        <p:nvSpPr>
          <p:cNvPr id="31" name="Text 21"/>
          <p:cNvSpPr txBox="1"/>
          <p:nvPr/>
        </p:nvSpPr>
        <p:spPr>
          <a:xfrm>
            <a:off x="1143000" y="504749"/>
            <a:ext cx="9906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" kern="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Roadmap · Build the Loop First, Then Governance, Then Intelligence</a:t>
            </a:r>
            <a:endParaRPr lang="en-US" sz="900" dirty="0"/>
          </a:p>
        </p:txBody>
      </p:sp>
      <p:sp>
        <p:nvSpPr>
          <p:cNvPr id="32" name="Text 22"/>
          <p:cNvSpPr txBox="1"/>
          <p:nvPr/>
        </p:nvSpPr>
        <p:spPr>
          <a:xfrm>
            <a:off x="1143000" y="1009498"/>
            <a:ext cx="9906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讨论重点：以 </a:t>
            </a:r>
            <a:pPr algn="l" indent="0" marL="0">
              <a:buNone/>
            </a:pPr>
            <a:r>
              <a:rPr lang="en-US" sz="10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Batch</a:t>
            </a:r>
            <a:pPr algn="l" indent="0" marL="0">
              <a:buNone/>
            </a:pPr>
            <a:r>
              <a:rPr lang="en-US" sz="10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为主键打通闭环；Phase 1 先可跑、可对账，Phase 2 再可管理，Phase 3 才谈智能化</a:t>
            </a:r>
            <a:endParaRPr lang="en-US" sz="10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-760" r="-760" t="0" b="0"/>
          <a:stretch/>
        </p:blipFill>
        <p:spPr>
          <a:xfrm>
            <a:off x="10458907" y="1669694"/>
            <a:ext cx="152705" cy="171907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10705795" y="1580998"/>
            <a:ext cx="914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对齐点</a:t>
            </a:r>
            <a:endParaRPr lang="en-US" sz="1000" dirty="0"/>
          </a:p>
        </p:txBody>
      </p:sp>
      <p:sp>
        <p:nvSpPr>
          <p:cNvPr id="35" name="Text 24"/>
          <p:cNvSpPr txBox="1"/>
          <p:nvPr/>
        </p:nvSpPr>
        <p:spPr>
          <a:xfrm>
            <a:off x="10705795" y="1809598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范围与里程碑</a:t>
            </a:r>
            <a:endParaRPr lang="en-US" sz="800" dirty="0"/>
          </a:p>
        </p:txBody>
      </p:sp>
      <p:sp>
        <p:nvSpPr>
          <p:cNvPr id="36" name="Text 25"/>
          <p:cNvSpPr txBox="1"/>
          <p:nvPr/>
        </p:nvSpPr>
        <p:spPr>
          <a:xfrm>
            <a:off x="10458907" y="2143354"/>
            <a:ext cx="114300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1) Phase 1 交付边界？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2) 批次/库存口径谁定？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3) 试点地块与仓库？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4) 哪些动作强制留痕？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5) 何时引入 IoT / AI？ </a:t>
            </a:r>
            <a:endParaRPr lang="en-US" sz="80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3" b="-43"/>
          <a:stretch/>
        </p:blipFill>
        <p:spPr>
          <a:xfrm>
            <a:off x="10554005" y="5152644"/>
            <a:ext cx="133502" cy="152705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10782605" y="5067605"/>
            <a:ext cx="762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策略</a:t>
            </a:r>
            <a:endParaRPr lang="en-US" sz="900" dirty="0"/>
          </a:p>
        </p:txBody>
      </p:sp>
      <p:sp>
        <p:nvSpPr>
          <p:cNvPr id="39" name="Text 27"/>
          <p:cNvSpPr txBox="1"/>
          <p:nvPr/>
        </p:nvSpPr>
        <p:spPr>
          <a:xfrm>
            <a:off x="10782605" y="5305349"/>
            <a:ext cx="7626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先闭环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再治理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后智能 </a:t>
            </a:r>
            <a:endParaRPr lang="en-US" sz="800" dirty="0"/>
          </a:p>
        </p:txBody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rcRect l="-33" r="-33" t="0" b="0"/>
          <a:stretch/>
        </p:blipFill>
        <p:spPr>
          <a:xfrm>
            <a:off x="1619402" y="1781251"/>
            <a:ext cx="171907" cy="152705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1848002" y="1695298"/>
            <a:ext cx="7810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三阶段目标：</a:t>
            </a:r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闭环价值</a:t>
            </a:r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管理能力</a:t>
            </a:r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智能升级</a:t>
            </a:r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（每阶段输出可验收的“能用成果”） </a:t>
            </a:r>
            <a:endParaRPr lang="en-US" sz="90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180" b="-180"/>
          <a:stretch/>
        </p:blipFill>
        <p:spPr>
          <a:xfrm>
            <a:off x="2457907" y="2667305"/>
            <a:ext cx="190195" cy="152705"/>
          </a:xfrm>
          <a:prstGeom prst="rect">
            <a:avLst/>
          </a:prstGeom>
        </p:spPr>
      </p:pic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rcRect l="-33" r="-33" t="0" b="0"/>
          <a:stretch/>
        </p:blipFill>
        <p:spPr>
          <a:xfrm>
            <a:off x="5553151" y="2667305"/>
            <a:ext cx="171907" cy="152705"/>
          </a:xfrm>
          <a:prstGeom prst="rect">
            <a:avLst/>
          </a:prstGeom>
        </p:spPr>
      </p:pic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rcRect l="-33" r="-33" t="0" b="0"/>
          <a:stretch/>
        </p:blipFill>
        <p:spPr>
          <a:xfrm>
            <a:off x="8648395" y="2667305"/>
            <a:ext cx="171907" cy="152705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1714500" y="3228746"/>
            <a:ext cx="933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PHASE 1</a:t>
            </a:r>
            <a:endParaRPr lang="en-US" sz="900" dirty="0"/>
          </a:p>
        </p:txBody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rcRect l="-1648" r="-1648" t="0" b="0"/>
          <a:stretch/>
        </p:blipFill>
        <p:spPr>
          <a:xfrm>
            <a:off x="1809598" y="3557930"/>
            <a:ext cx="171907" cy="190195"/>
          </a:xfrm>
          <a:prstGeom prst="rect">
            <a:avLst/>
          </a:prstGeom>
        </p:spPr>
      </p:pic>
      <p:sp>
        <p:nvSpPr>
          <p:cNvPr id="47" name="Text 30"/>
          <p:cNvSpPr txBox="1"/>
          <p:nvPr/>
        </p:nvSpPr>
        <p:spPr>
          <a:xfrm>
            <a:off x="2095805" y="3448202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核心闭环</a:t>
            </a:r>
            <a:endParaRPr lang="en-US" sz="1200" dirty="0"/>
          </a:p>
        </p:txBody>
      </p:sp>
      <p:sp>
        <p:nvSpPr>
          <p:cNvPr id="48" name="Text 31"/>
          <p:cNvSpPr txBox="1"/>
          <p:nvPr/>
        </p:nvSpPr>
        <p:spPr>
          <a:xfrm>
            <a:off x="2095805" y="3715207"/>
            <a:ext cx="19531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先跑起来 · 能对账</a:t>
            </a:r>
            <a:endParaRPr lang="en-US" sz="800" dirty="0"/>
          </a:p>
        </p:txBody>
      </p:sp>
      <p:sp>
        <p:nvSpPr>
          <p:cNvPr id="49" name="Text 32"/>
          <p:cNvSpPr txBox="1"/>
          <p:nvPr/>
        </p:nvSpPr>
        <p:spPr>
          <a:xfrm>
            <a:off x="1809598" y="3962095"/>
            <a:ext cx="21909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范围（优先）</a:t>
            </a:r>
            <a:endParaRPr lang="en-US" sz="900" dirty="0"/>
          </a:p>
        </p:txBody>
      </p:sp>
      <p:sp>
        <p:nvSpPr>
          <p:cNvPr id="50" name="Text 33"/>
          <p:cNvSpPr txBox="1"/>
          <p:nvPr/>
        </p:nvSpPr>
        <p:spPr>
          <a:xfrm>
            <a:off x="1809598" y="4200754"/>
            <a:ext cx="219090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Production（地块/计划/农事/投入）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Harvest（采收记录/批次生成）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Packhouse &amp; Inventory（分级/包装/可售库存）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Order（订单/出库/配送） </a:t>
            </a:r>
            <a:endParaRPr lang="en-US" sz="800" dirty="0"/>
          </a:p>
        </p:txBody>
      </p:sp>
      <p:pic>
        <p:nvPicPr>
          <p:cNvPr id="51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1943100" y="5381244"/>
            <a:ext cx="152705" cy="152705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2152498" y="5296205"/>
            <a:ext cx="1810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Batch</a:t>
            </a:r>
            <a:pPr algn="l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与 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Inventory</a:t>
            </a:r>
            <a:pPr algn="l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口径统一</a:t>
            </a:r>
            <a:endParaRPr lang="en-US" sz="800" dirty="0"/>
          </a:p>
        </p:txBody>
      </p:sp>
      <p:sp>
        <p:nvSpPr>
          <p:cNvPr id="53" name="Text 35"/>
          <p:cNvSpPr txBox="1"/>
          <p:nvPr/>
        </p:nvSpPr>
        <p:spPr>
          <a:xfrm>
            <a:off x="4572000" y="3228746"/>
            <a:ext cx="933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PHASE 2</a:t>
            </a:r>
            <a:endParaRPr lang="en-US" sz="900" dirty="0"/>
          </a:p>
        </p:txBody>
      </p:sp>
      <p:pic>
        <p:nvPicPr>
          <p:cNvPr id="54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4667098" y="3557930"/>
            <a:ext cx="190195" cy="190195"/>
          </a:xfrm>
          <a:prstGeom prst="rect">
            <a:avLst/>
          </a:prstGeom>
        </p:spPr>
      </p:pic>
      <p:sp>
        <p:nvSpPr>
          <p:cNvPr id="55" name="Text 36"/>
          <p:cNvSpPr txBox="1"/>
          <p:nvPr/>
        </p:nvSpPr>
        <p:spPr>
          <a:xfrm>
            <a:off x="4953305" y="3448202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管理能力</a:t>
            </a:r>
            <a:endParaRPr lang="en-US" sz="1200" dirty="0"/>
          </a:p>
        </p:txBody>
      </p:sp>
      <p:sp>
        <p:nvSpPr>
          <p:cNvPr id="56" name="Text 37"/>
          <p:cNvSpPr txBox="1"/>
          <p:nvPr/>
        </p:nvSpPr>
        <p:spPr>
          <a:xfrm>
            <a:off x="4953305" y="3715207"/>
            <a:ext cx="19531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可追溯 · 可考核</a:t>
            </a:r>
            <a:endParaRPr lang="en-US" sz="800" dirty="0"/>
          </a:p>
        </p:txBody>
      </p:sp>
      <p:sp>
        <p:nvSpPr>
          <p:cNvPr id="57" name="Text 38"/>
          <p:cNvSpPr txBox="1"/>
          <p:nvPr/>
        </p:nvSpPr>
        <p:spPr>
          <a:xfrm>
            <a:off x="4667098" y="3962095"/>
            <a:ext cx="21909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范围（补齐）</a:t>
            </a:r>
            <a:endParaRPr lang="en-US" sz="900" dirty="0"/>
          </a:p>
        </p:txBody>
      </p:sp>
      <p:sp>
        <p:nvSpPr>
          <p:cNvPr id="58" name="Text 39"/>
          <p:cNvSpPr txBox="1"/>
          <p:nvPr/>
        </p:nvSpPr>
        <p:spPr>
          <a:xfrm>
            <a:off x="4667098" y="4200754"/>
            <a:ext cx="219090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Quality &amp; Traceability（QC/农残/追溯）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People &amp; Execution（人员/分工/日报/KPI）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Reporting（经营看板/指标口径）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权限与流程治理（审核/留痕） </a:t>
            </a:r>
            <a:endParaRPr lang="en-US" sz="800" dirty="0"/>
          </a:p>
        </p:txBody>
      </p:sp>
      <p:pic>
        <p:nvPicPr>
          <p:cNvPr id="59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100" b="-100"/>
          <a:stretch/>
        </p:blipFill>
        <p:spPr>
          <a:xfrm>
            <a:off x="4800600" y="5381244"/>
            <a:ext cx="114300" cy="152705"/>
          </a:xfrm>
          <a:prstGeom prst="rect">
            <a:avLst/>
          </a:prstGeom>
        </p:spPr>
      </p:pic>
      <p:sp>
        <p:nvSpPr>
          <p:cNvPr id="60" name="Text 40"/>
          <p:cNvSpPr txBox="1"/>
          <p:nvPr/>
        </p:nvSpPr>
        <p:spPr>
          <a:xfrm>
            <a:off x="5009998" y="5296205"/>
            <a:ext cx="1810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输出：检测报告、追溯链路、绩效报表</a:t>
            </a:r>
            <a:endParaRPr lang="en-US" sz="800" dirty="0"/>
          </a:p>
        </p:txBody>
      </p:sp>
      <p:sp>
        <p:nvSpPr>
          <p:cNvPr id="61" name="Text 41"/>
          <p:cNvSpPr txBox="1"/>
          <p:nvPr/>
        </p:nvSpPr>
        <p:spPr>
          <a:xfrm>
            <a:off x="7429500" y="3228746"/>
            <a:ext cx="933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PHASE 3</a:t>
            </a:r>
            <a:endParaRPr lang="en-US" sz="900" dirty="0"/>
          </a:p>
        </p:txBody>
      </p:sp>
      <p:pic>
        <p:nvPicPr>
          <p:cNvPr id="62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7524598" y="3557930"/>
            <a:ext cx="190195" cy="190195"/>
          </a:xfrm>
          <a:prstGeom prst="rect">
            <a:avLst/>
          </a:prstGeom>
        </p:spPr>
      </p:pic>
      <p:sp>
        <p:nvSpPr>
          <p:cNvPr id="63" name="Text 42"/>
          <p:cNvSpPr txBox="1"/>
          <p:nvPr/>
        </p:nvSpPr>
        <p:spPr>
          <a:xfrm>
            <a:off x="7810805" y="3448202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智能升级</a:t>
            </a:r>
            <a:endParaRPr lang="en-US" sz="1200" dirty="0"/>
          </a:p>
        </p:txBody>
      </p:sp>
      <p:sp>
        <p:nvSpPr>
          <p:cNvPr id="64" name="Text 43"/>
          <p:cNvSpPr txBox="1"/>
          <p:nvPr/>
        </p:nvSpPr>
        <p:spPr>
          <a:xfrm>
            <a:off x="7810805" y="3715207"/>
            <a:ext cx="1810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更少人工 · 更强预警</a:t>
            </a:r>
            <a:endParaRPr lang="en-US" sz="800" dirty="0"/>
          </a:p>
        </p:txBody>
      </p:sp>
      <p:sp>
        <p:nvSpPr>
          <p:cNvPr id="65" name="Text 44"/>
          <p:cNvSpPr txBox="1"/>
          <p:nvPr/>
        </p:nvSpPr>
        <p:spPr>
          <a:xfrm>
            <a:off x="7524598" y="3962095"/>
            <a:ext cx="2095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范围（增强）</a:t>
            </a:r>
            <a:endParaRPr lang="en-US" sz="900" dirty="0"/>
          </a:p>
        </p:txBody>
      </p:sp>
      <p:sp>
        <p:nvSpPr>
          <p:cNvPr id="66" name="Text 45"/>
          <p:cNvSpPr txBox="1"/>
          <p:nvPr/>
        </p:nvSpPr>
        <p:spPr>
          <a:xfrm>
            <a:off x="7524598" y="4200754"/>
            <a:ext cx="20958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IoT 环境监测（可选）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自动预警（病虫害/库存/履约）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AI 分析（产量预测/损耗优化）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决策建议与策略回放 </a:t>
            </a:r>
            <a:endParaRPr lang="en-US" sz="800" dirty="0"/>
          </a:p>
        </p:txBody>
      </p:sp>
      <p:pic>
        <p:nvPicPr>
          <p:cNvPr id="67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7658100" y="5381244"/>
            <a:ext cx="152705" cy="152705"/>
          </a:xfrm>
          <a:prstGeom prst="rect">
            <a:avLst/>
          </a:prstGeom>
        </p:spPr>
      </p:pic>
      <p:sp>
        <p:nvSpPr>
          <p:cNvPr id="68" name="Text 46"/>
          <p:cNvSpPr txBox="1"/>
          <p:nvPr/>
        </p:nvSpPr>
        <p:spPr>
          <a:xfrm>
            <a:off x="7867498" y="5296205"/>
            <a:ext cx="1714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前提：数据稳定、流程标准化</a:t>
            </a:r>
            <a:endParaRPr lang="en-US" sz="800" dirty="0"/>
          </a:p>
        </p:txBody>
      </p:sp>
      <p:pic>
        <p:nvPicPr>
          <p:cNvPr id="69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1638605" y="6219749"/>
            <a:ext cx="152705" cy="152705"/>
          </a:xfrm>
          <a:prstGeom prst="rect">
            <a:avLst/>
          </a:prstGeom>
        </p:spPr>
      </p:pic>
      <p:sp>
        <p:nvSpPr>
          <p:cNvPr id="70" name="Text 47"/>
          <p:cNvSpPr txBox="1"/>
          <p:nvPr/>
        </p:nvSpPr>
        <p:spPr>
          <a:xfrm>
            <a:off x="1867205" y="6133795"/>
            <a:ext cx="7810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验收建议：每一阶段都以 </a:t>
            </a:r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“可用闭环 + 可追溯对账”</a:t>
            </a:r>
            <a:pPr algn="l" indent="0" marL="0">
              <a:buNone/>
            </a:pPr>
            <a:r>
              <a:rPr lang="en-US" sz="9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为准——先把关键链路跑顺，再逐步扩展治理与智能化 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38505"/>
            <a:ext cx="875995" cy="6019495"/>
          </a:xfrm>
          <a:prstGeom prst="rect">
            <a:avLst/>
          </a:prstGeom>
          <a:solidFill>
            <a:srgbClr val="0F6C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429207"/>
            <a:ext cx="8973007" cy="5162702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1429207"/>
            <a:ext cx="1447495" cy="5162702"/>
          </a:xfrm>
          <a:prstGeom prst="roundRect">
            <a:avLst>
              <a:gd name="adj" fmla="val 14962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10287000" y="1429207"/>
            <a:ext cx="1429207" cy="5907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401300" y="5143500"/>
            <a:ext cx="1200607" cy="1238098"/>
          </a:xfrm>
          <a:prstGeom prst="roundRect">
            <a:avLst>
              <a:gd name="adj" fmla="val 16925"/>
            </a:avLst>
          </a:prstGeom>
          <a:solidFill>
            <a:srgbClr val="0B2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29207" y="1619402"/>
            <a:ext cx="8401507" cy="533095"/>
          </a:xfrm>
          <a:prstGeom prst="roundRect">
            <a:avLst>
              <a:gd name="adj" fmla="val 98015"/>
            </a:avLst>
          </a:prstGeom>
          <a:solidFill>
            <a:srgbClr val="EEF6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29207" y="2266798"/>
            <a:ext cx="4114800" cy="3258007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38" b="-38"/>
          <a:stretch/>
        </p:blipFill>
        <p:spPr>
          <a:xfrm>
            <a:off x="1429207" y="2266798"/>
            <a:ext cx="4095598" cy="62910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715000" y="2266798"/>
            <a:ext cx="4114800" cy="3258007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38" b="-38"/>
          <a:stretch/>
        </p:blipFill>
        <p:spPr>
          <a:xfrm>
            <a:off x="5715000" y="2266798"/>
            <a:ext cx="4095598" cy="629107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429207" y="5658307"/>
            <a:ext cx="8382305" cy="819302"/>
          </a:xfrm>
          <a:prstGeom prst="roundRect">
            <a:avLst>
              <a:gd name="adj" fmla="val 46719"/>
            </a:avLst>
          </a:prstGeom>
          <a:solidFill>
            <a:srgbClr val="0B2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1143000" y="171907"/>
            <a:ext cx="9906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总结：系统本质与落地要点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504749"/>
            <a:ext cx="9906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" kern="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Summary · Essence, Principles &amp; Next Actions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" y="1009498"/>
            <a:ext cx="9906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讨论重点：把“关键主键 + 关键口径 + 关键流程”一次对齐，确保 Phase 1 能形成可验证的闭环价值</a:t>
            </a:r>
            <a:endParaRPr lang="en-US" sz="10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458907" y="1669694"/>
            <a:ext cx="171907" cy="17190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705795" y="1580998"/>
            <a:ext cx="914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对齐点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0705795" y="1809598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落地共识</a:t>
            </a:r>
            <a:endParaRPr lang="en-US" sz="800" dirty="0"/>
          </a:p>
        </p:txBody>
      </p:sp>
      <p:sp>
        <p:nvSpPr>
          <p:cNvPr id="23" name="Text 17"/>
          <p:cNvSpPr txBox="1"/>
          <p:nvPr/>
        </p:nvSpPr>
        <p:spPr>
          <a:xfrm>
            <a:off x="10458907" y="2143354"/>
            <a:ext cx="11430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1) Batch 编码与生成时点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2) Inventory 可售口径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3) 关键动作审核/留痕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4) 主数据维护责任人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5) Phase 1 试点范围 </a:t>
            </a:r>
            <a:endParaRPr lang="en-US" sz="9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554005" y="5362956"/>
            <a:ext cx="152705" cy="15270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782605" y="5277002"/>
            <a:ext cx="762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原则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10782605" y="5514746"/>
            <a:ext cx="7626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先口径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后系统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可对账 </a:t>
            </a:r>
            <a:endParaRPr lang="en-US" sz="8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619402" y="1819656"/>
            <a:ext cx="152705" cy="15270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848002" y="1695298"/>
            <a:ext cx="81088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系统本质：以 </a:t>
            </a:r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Plot</a:t>
            </a:r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为源头、以 </a:t>
            </a:r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Batch</a:t>
            </a:r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为主键、以 </a:t>
            </a:r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Inventory</a:t>
            </a:r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为经营节点、 以 </a:t>
            </a:r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Order</a:t>
            </a:r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为变现出口、以 </a:t>
            </a:r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QC</a:t>
            </a:r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为信任保障、以 </a:t>
            </a:r>
            <a:pPr algn="l" indent="0" marL="0">
              <a:buNone/>
            </a:pPr>
            <a:r>
              <a:rPr lang="en-US" sz="900" b="1" dirty="0">
                <a:solidFill>
                  <a:srgbClr val="0B5C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People</a:t>
            </a:r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为执行载体 </a:t>
            </a:r>
            <a:endParaRPr lang="en-US" sz="9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42" b="-842"/>
          <a:stretch/>
        </p:blipFill>
        <p:spPr>
          <a:xfrm>
            <a:off x="1638605" y="2507285"/>
            <a:ext cx="190195" cy="171907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904695" y="2400300"/>
            <a:ext cx="3429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关键结论（用于复盘）</a:t>
            </a:r>
            <a:endParaRPr lang="en-US" sz="1100" dirty="0"/>
          </a:p>
        </p:txBody>
      </p:sp>
      <p:sp>
        <p:nvSpPr>
          <p:cNvPr id="31" name="Text 22"/>
          <p:cNvSpPr txBox="1"/>
          <p:nvPr/>
        </p:nvSpPr>
        <p:spPr>
          <a:xfrm>
            <a:off x="1904695" y="2638044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把“链路”和“口径”一次说清，后续迭代才不会返工</a:t>
            </a:r>
            <a:endParaRPr lang="en-US" sz="800" dirty="0"/>
          </a:p>
        </p:txBody>
      </p:sp>
      <p:sp>
        <p:nvSpPr>
          <p:cNvPr id="32" name="Text 23"/>
          <p:cNvSpPr txBox="1"/>
          <p:nvPr/>
        </p:nvSpPr>
        <p:spPr>
          <a:xfrm>
            <a:off x="1638605" y="3010205"/>
            <a:ext cx="3676802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业务闭环主线：Plot → Activity → Harvest → Batch → Inventory → Order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“批次”是系统主键：追溯、质量、库存、销售都要能回到 Batch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“库存口径”决定经营真相：可售、在途、锁定、损耗需统一定义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关键记录必须可追责：谁做的、何时做的、为什么改（留痕/审批）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• 报表不是后补：指标口径先定，才能保证看板与业务一致 </a:t>
            </a:r>
            <a:endParaRPr lang="en-US" sz="9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924398" y="2507285"/>
            <a:ext cx="171907" cy="171907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191402" y="2400300"/>
            <a:ext cx="3429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F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落地要点（建议作为验收标准）</a:t>
            </a:r>
            <a:endParaRPr lang="en-US" sz="1100" dirty="0"/>
          </a:p>
        </p:txBody>
      </p:sp>
      <p:sp>
        <p:nvSpPr>
          <p:cNvPr id="35" name="Text 25"/>
          <p:cNvSpPr txBox="1"/>
          <p:nvPr/>
        </p:nvSpPr>
        <p:spPr>
          <a:xfrm>
            <a:off x="6191402" y="2638044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5F9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主数据先行 + 流程标准化 + 数据可对账</a:t>
            </a:r>
            <a:endParaRPr lang="en-US" sz="800" dirty="0"/>
          </a:p>
        </p:txBody>
      </p:sp>
      <p:sp>
        <p:nvSpPr>
          <p:cNvPr id="36" name="Text 26"/>
          <p:cNvSpPr txBox="1"/>
          <p:nvPr/>
        </p:nvSpPr>
        <p:spPr>
          <a:xfrm>
            <a:off x="5924398" y="3010205"/>
            <a:ext cx="3676802" cy="1505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1) 主数据治理：Plot/Crop/Staff/Input/Packaging 的字段口径与维护责任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2) 批次引擎：生成时点、编码规则、拆分/合并、与 QC/库存的挂接规则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3) 库存流转：入库/包装/报损/出库/退货全链路记录与对账口径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4) 审核与权限：关键动作（批次、库存调整、出库）建议强制留痕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3B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5) 试点策略：先选 1–2 个地块 + 1 个包装仓库跑通 Phase 1 </a:t>
            </a:r>
            <a:endParaRPr lang="en-US" sz="9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rcRect l="-1773" r="-1773" t="0" b="0"/>
          <a:stretch/>
        </p:blipFill>
        <p:spPr>
          <a:xfrm>
            <a:off x="1657807" y="5974690"/>
            <a:ext cx="133502" cy="171907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1943100" y="5810098"/>
            <a:ext cx="7677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下一步（建议会议决议输出）</a:t>
            </a:r>
            <a:endParaRPr lang="en-US" sz="1000" dirty="0"/>
          </a:p>
        </p:txBody>
      </p:sp>
      <p:sp>
        <p:nvSpPr>
          <p:cNvPr id="39" name="Text 28"/>
          <p:cNvSpPr txBox="1"/>
          <p:nvPr/>
        </p:nvSpPr>
        <p:spPr>
          <a:xfrm>
            <a:off x="1943100" y="6057900"/>
            <a:ext cx="7677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4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锁定 Phase 1 范围与里程碑 → 明确 Batch/Inventory 口径负责人 → 产出原型与字段清单 → 启动试点地块/仓库上线计划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2026-04-17T20:11:18Z</dcterms:created>
  <dcterms:modified xsi:type="dcterms:W3CDTF">2026-04-17T20:11:18Z</dcterms:modified>
</cp:coreProperties>
</file>